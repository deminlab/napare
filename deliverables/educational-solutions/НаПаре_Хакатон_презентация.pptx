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4a9d1ae014747" /><Relationship Type="http://schemas.openxmlformats.org/officeDocument/2006/relationships/extended-properties" Target="/docProps/app.xml" Id="R1f69bdcd0e6c4c87" /><Relationship Type="http://schemas.openxmlformats.org/officeDocument/2006/relationships/officeDocument" Target="/ppt/presentation.xml" Id="R48ca2070fd4d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d2bd78579e420c"/>
  </p:sldMasterIdLst>
  <p:notesMasterIdLst>
    <p:notesMasterId xmlns:r="http://schemas.openxmlformats.org/officeDocument/2006/relationships" r:id="Rea5fa6efe77c4058"/>
  </p:notesMasterIdLst>
  <p:sldIdLst>
    <p:sldId xmlns:r="http://schemas.openxmlformats.org/officeDocument/2006/relationships" id="256" r:id="Rd1bb79fc5e4144fa"/>
    <p:sldId xmlns:r="http://schemas.openxmlformats.org/officeDocument/2006/relationships" id="257" r:id="Raae994368c7942f1"/>
    <p:sldId xmlns:r="http://schemas.openxmlformats.org/officeDocument/2006/relationships" id="258" r:id="R2e6e10b139704b5a"/>
    <p:sldId xmlns:r="http://schemas.openxmlformats.org/officeDocument/2006/relationships" id="259" r:id="Rf2480c6681224c53"/>
    <p:sldId xmlns:r="http://schemas.openxmlformats.org/officeDocument/2006/relationships" id="260" r:id="R18d3a8de1aa44620"/>
    <p:sldId xmlns:r="http://schemas.openxmlformats.org/officeDocument/2006/relationships" id="261" r:id="R9acdec785103428f"/>
    <p:sldId xmlns:r="http://schemas.openxmlformats.org/officeDocument/2006/relationships" id="262" r:id="Ref6de388d1d94ef2"/>
    <p:sldId xmlns:r="http://schemas.openxmlformats.org/officeDocument/2006/relationships" id="263" r:id="R31245f7614b141c0"/>
    <p:sldId xmlns:r="http://schemas.openxmlformats.org/officeDocument/2006/relationships" id="264" r:id="R21ad20eb03724fcf"/>
    <p:sldId xmlns:r="http://schemas.openxmlformats.org/officeDocument/2006/relationships" id="265" r:id="R829a537bba134a73"/>
    <p:sldId xmlns:r="http://schemas.openxmlformats.org/officeDocument/2006/relationships" id="266" r:id="R92bea36018a84b08"/>
    <p:sldId xmlns:r="http://schemas.openxmlformats.org/officeDocument/2006/relationships" id="267" r:id="Rf78978705c814b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2989ff8644f5e" /><Relationship Type="http://schemas.openxmlformats.org/officeDocument/2006/relationships/slideMaster" Target="/ppt/slideMasters/slideMaster1.xml" Id="R2ed2bd78579e420c" /><Relationship Type="http://schemas.openxmlformats.org/officeDocument/2006/relationships/notesMaster" Target="/ppt/notesMasters/notesMaster1.xml" Id="Rea5fa6efe77c4058" /><Relationship Type="http://schemas.openxmlformats.org/officeDocument/2006/relationships/presProps" Target="/ppt/presProps.xml" Id="Rb5c41eadf7cb4ee5" /><Relationship Type="http://schemas.openxmlformats.org/officeDocument/2006/relationships/tableStyles" Target="/ppt/tableStyles.xml" Id="Re9c853af54874234" /><Relationship Type="http://schemas.openxmlformats.org/officeDocument/2006/relationships/slide" Target="/ppt/slides/slide1.xml" Id="Rd1bb79fc5e4144fa" /><Relationship Type="http://schemas.openxmlformats.org/officeDocument/2006/relationships/slide" Target="/ppt/slides/slide2.xml" Id="Raae994368c7942f1" /><Relationship Type="http://schemas.openxmlformats.org/officeDocument/2006/relationships/slide" Target="/ppt/slides/slide3.xml" Id="R2e6e10b139704b5a" /><Relationship Type="http://schemas.openxmlformats.org/officeDocument/2006/relationships/slide" Target="/ppt/slides/slide4.xml" Id="Rf2480c6681224c53" /><Relationship Type="http://schemas.openxmlformats.org/officeDocument/2006/relationships/slide" Target="/ppt/slides/slide5.xml" Id="R18d3a8de1aa44620" /><Relationship Type="http://schemas.openxmlformats.org/officeDocument/2006/relationships/slide" Target="/ppt/slides/slide6.xml" Id="R9acdec785103428f" /><Relationship Type="http://schemas.openxmlformats.org/officeDocument/2006/relationships/slide" Target="/ppt/slides/slide7.xml" Id="Ref6de388d1d94ef2" /><Relationship Type="http://schemas.openxmlformats.org/officeDocument/2006/relationships/slide" Target="/ppt/slides/slide8.xml" Id="R31245f7614b141c0" /><Relationship Type="http://schemas.openxmlformats.org/officeDocument/2006/relationships/slide" Target="/ppt/slides/slide9.xml" Id="R21ad20eb03724fcf" /><Relationship Type="http://schemas.openxmlformats.org/officeDocument/2006/relationships/slide" Target="/ppt/slides/slide10.xml" Id="R829a537bba134a73" /><Relationship Type="http://schemas.openxmlformats.org/officeDocument/2006/relationships/slide" Target="/ppt/slides/slide11.xml" Id="R92bea36018a84b08" /><Relationship Type="http://schemas.openxmlformats.org/officeDocument/2006/relationships/slide" Target="/ppt/slides/slide12.xml" Id="Rf78978705c81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757ed5cfd64e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c4f8f79db643df" /><Relationship Type="http://schemas.openxmlformats.org/officeDocument/2006/relationships/notesMaster" Target="/ppt/notesMasters/notesMaster1.xml" Id="R2c484ed5140d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daeda42af04eb4" /><Relationship Type="http://schemas.openxmlformats.org/officeDocument/2006/relationships/notesMaster" Target="/ppt/notesMasters/notesMaster1.xml" Id="R66438189f23446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0d15af410546ee" /><Relationship Type="http://schemas.openxmlformats.org/officeDocument/2006/relationships/notesMaster" Target="/ppt/notesMasters/notesMaster1.xml" Id="R592cd7d5331144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2ca2df93984654" /><Relationship Type="http://schemas.openxmlformats.org/officeDocument/2006/relationships/notesMaster" Target="/ppt/notesMasters/notesMaster1.xml" Id="Rfe0097ebc65949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bc7f0d0adb4ace" /><Relationship Type="http://schemas.openxmlformats.org/officeDocument/2006/relationships/notesMaster" Target="/ppt/notesMasters/notesMaster1.xml" Id="Re58c56d620f24c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b7d35203834460" /><Relationship Type="http://schemas.openxmlformats.org/officeDocument/2006/relationships/notesMaster" Target="/ppt/notesMasters/notesMaster1.xml" Id="R6b11c03ce1a24f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a038b98b5249f0" /><Relationship Type="http://schemas.openxmlformats.org/officeDocument/2006/relationships/notesMaster" Target="/ppt/notesMasters/notesMaster1.xml" Id="R5cfcb82991e84b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b4751641ba440e" /><Relationship Type="http://schemas.openxmlformats.org/officeDocument/2006/relationships/notesMaster" Target="/ppt/notesMasters/notesMaster1.xml" Id="Ra99be1b9d59544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20841ca85642ac" /><Relationship Type="http://schemas.openxmlformats.org/officeDocument/2006/relationships/notesMaster" Target="/ppt/notesMasters/notesMaster1.xml" Id="R506461350b6347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b3708baab2495b" /><Relationship Type="http://schemas.openxmlformats.org/officeDocument/2006/relationships/notesMaster" Target="/ppt/notesMasters/notesMaster1.xml" Id="Rd487a2c9798b4e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f82dcd1edd4f94" /><Relationship Type="http://schemas.openxmlformats.org/officeDocument/2006/relationships/notesMaster" Target="/ppt/notesMasters/notesMaster1.xml" Id="R6e4078623f4442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4bee35d9454f15" /><Relationship Type="http://schemas.openxmlformats.org/officeDocument/2006/relationships/notesMaster" Target="/ppt/notesMasters/notesMaster1.xml" Id="R9c5064f3f91048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отправкой заявки заполнить ссылку одобренного бота, URL доступной версии, commit hash, API base, пароли тестовых учёток и MAX_BOT_TOKEN согласно формату кейса. Приватную карточку для проверяющих не коммитить в репозиторий и передавать установленным организаторами защищённым способом. Источник обязательных технических требований: пользовательский PDF «Образовательные решения», стр. 9–10.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фактов и пробелов в доказательствах взято из docs/product-roadmap-vcourse-comparison.md. Не выдавать гипотезы про длительность переклички за результаты исследования. Рекомендации по узкой аудитории и разделению фактов/гипотез: PDF «Образовательные решения», стр.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и правила QR описаны в docs/hackathon-demo.md и приложении: QR TTL 90 секунд; сервер ограничивает сессию занятием, группой и ролью; повторная отметка идемпотентна.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использует официальный MAX Bridge: https://dev.max.ru/docs/webapps/bridge. Управление ботом и подключение к нему готового мини-приложения описаны на https://dev.max.ru/docs/chatbots/bots-create/manage и https://dev.max.ru/docs/webapps/introduction. Платформенная привязка бота к URL задаётся владельцем в MAX для бизнеса; репозиторий не может настроить её 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Тексты состояний описывают реализованную механику интерфейса и backend. Не заявлять отсутствие любых ошибок; допустимый результат проверяющего — корректная реакция на разные состояния сценария.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соответствует docs/clients/max-miniapp.md, docs/architecture/system-overview.md и docker-compose.prod.yml. MAX bot URL и авторизационный token создаются/настраиваются на платформе MAX; секрет хранится в backend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30% и способ замера — гипотеза из docs/product-roadmap-vcourse-comparison.md и docs/hackathon-demo.md. Ни замеры, ни пилотные результаты не заявляются как завершённые.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пилота и переменные масштабирования из docs/hackathon-demo.md, docs/product-roadmap-vcourse-comparison.md и рекомендаций PDF «Образовательные решения», стр. 19–20.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ограничения данных описаны в docs/hackathon-demo.md. Рекомендации кейса о первоисточниках, актуальности и разделении факта/модели: PDF «Образовательные решения», стр.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требует показывать источники информации и различать факты и гипотезы. Ссылки на MAX — официальная документация разработчиков. Архитектура и механики подтверждаются исходниками перечисленных модулей; метрика и пользовательский эффект остаются гипотезой до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выпуска и ограничения проверки см. docs/hackathon-demo.md и DEPLOY.md. Текущая презентация специально не содержит паролей и рабочего MAX_BOT_TOKEN.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Тестовые логины и пароли предоставлены владельцем проекта для демонстрации. Ссылка ведёт на MAX-бота: https://max.ru/id550146543714_bot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f27f7b36b4a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cf71cefad14f96" /><Relationship Type="http://schemas.openxmlformats.org/officeDocument/2006/relationships/slideLayout" Target="/ppt/slideLayouts/slideLayout1.xml" Id="Ra1cf60425121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cf60425121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a1c2819404711" /><Relationship Type="http://schemas.openxmlformats.org/officeDocument/2006/relationships/hyperlink" Target="https://max.ru/id550146543714_bot" TargetMode="External" Id="R928e5f66cd244fa6" /><Relationship Type="http://schemas.openxmlformats.org/officeDocument/2006/relationships/hyperlink" Target="https://github.com/DeminLab/NaPare" TargetMode="External" Id="R5b057545c1e44c2c" /><Relationship Type="http://schemas.openxmlformats.org/officeDocument/2006/relationships/image" Target="/ppt/media/image.png" Id="R582fee41b6ed4452" /><Relationship Type="http://schemas.openxmlformats.org/officeDocument/2006/relationships/notesSlide" Target="/ppt/notesSlides/notesSlide1.xml" Id="R0f253889ec9741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b158ebc4e4b00" /><Relationship Type="http://schemas.openxmlformats.org/officeDocument/2006/relationships/notesSlide" Target="/ppt/notesSlides/notesSlide2.xml" Id="Rb82a7758951b46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445b1b7fe4e1f" /><Relationship Type="http://schemas.openxmlformats.org/officeDocument/2006/relationships/notesSlide" Target="/ppt/notesSlides/notesSlide3.xml" Id="R8916626c82a648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f334cc862424a" /><Relationship Type="http://schemas.openxmlformats.org/officeDocument/2006/relationships/notesSlide" Target="/ppt/notesSlides/notesSlide4.xml" Id="R96c6d970a5d748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5db141f2b4ef0" /><Relationship Type="http://schemas.openxmlformats.org/officeDocument/2006/relationships/notesSlide" Target="/ppt/notesSlides/notesSlide5.xml" Id="Rf6847995b57a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3355efbe54130" /><Relationship Type="http://schemas.openxmlformats.org/officeDocument/2006/relationships/notesSlide" Target="/ppt/notesSlides/notesSlide6.xml" Id="R96eb7190a1dc45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436c1a9504ffc" /><Relationship Type="http://schemas.openxmlformats.org/officeDocument/2006/relationships/notesSlide" Target="/ppt/notesSlides/notesSlide7.xml" Id="R26c35bcbd74349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66d23feb5401a" /><Relationship Type="http://schemas.openxmlformats.org/officeDocument/2006/relationships/notesSlide" Target="/ppt/notesSlides/notesSlide8.xml" Id="R2f85c6ff23364a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81e7bbac745e1" /><Relationship Type="http://schemas.openxmlformats.org/officeDocument/2006/relationships/notesSlide" Target="/ppt/notesSlides/notesSlide9.xml" Id="Rbebf480486e048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34abea11c4e25" /><Relationship Type="http://schemas.openxmlformats.org/officeDocument/2006/relationships/notesSlide" Target="/ppt/notesSlides/notesSlide10.xml" Id="R14b42e77e4ee4b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46aac511b4686" /><Relationship Type="http://schemas.openxmlformats.org/officeDocument/2006/relationships/notesSlide" Target="/ppt/notesSlides/notesSlide11.xml" Id="R5ea6233a87aa48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af6d2d3e7477c" /><Relationship Type="http://schemas.openxmlformats.org/officeDocument/2006/relationships/hyperlink" Target="https://max.ru/id550146543714_bot" TargetMode="External" Id="Rf76d360a7b8b4efc" /><Relationship Type="http://schemas.openxmlformats.org/officeDocument/2006/relationships/notesSlide" Target="/ppt/notesSlides/notesSlide12.xml" Id="R02266eeac39347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5560-F12D-4C92-9B22-44DB64D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534F-F2FF-4DF6-B9C5-38E7894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ТЕХНИЧЕСКАЯ КАРТОЧКА · КОМАНДА ПРОЕКТА: НАПАРЕ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0648A-E48A-4A6A-AF5F-763F1BB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B3CC7-52A4-4CA4-A0C2-8D44311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посещения пары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911E-6496-47E0-ABD9-BBC2D36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Сценарий: сайт в MAX → аккаунт вуза → QR → подтверждённая отметка.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5B27-977E-4452-A8F3-674C908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850B-C1F0-4D18-A7F1-9B52802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БОТ 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39D1-6BF1-477A-A8B2-86D232C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928e5f66cd244fa6"/>
              </a:rPr>
              <a:t>https://max.ru/id550146543714_bot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5FA3-5ECA-4096-A2AD-F7720AB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E3E7-F253-4490-BFD1-0B1C35C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EB752-F9D9-4AF2-9E44-E05405C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Адрес Mini App: добавить HTTPS-URL после выкладки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97BB3-1E69-4F9B-BA17-90C7C70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91E17-F422-488F-95E8-A75FE6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E6BEB-8BA2-49D0-803C-72310DD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5b057545c1e44c2c"/>
              </a:rPr>
              <a:t>https://github.com/DeminLab/NaPare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88516-F1D8-4138-8796-15C750D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4480-2E3A-4766-A6BA-06118BB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COMMIT ФИНАЛЬНОЙ ВЕРСИИ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D364B-4799-4BA1-8636-20D93A1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Указать commit после фиксации версии для сдачи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AA308-066C-4307-8947-3540E1A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D1866-B195-4D02-8C2A-6BB4A81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 И SWAGGER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E0968-140E-4187-BE5F-6BD099B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/api/v1/docs · на домене стенда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06810-FBFF-4823-B4A5-199027AC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263C3-35E8-4002-8E5E-3FCE9BD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ТЕСТОВЫЕ РОЛИ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5189D-031D-459F-93AC-70B717E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 с логинами и паролями указаны на последнем слайде.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D520D-9E7F-4044-955C-37FCE21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81B67-F7A1-498F-97CC-0F63269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MVP подготовлен к развёртыванию. URL стенда и commit укажите после публикации; MAX_BOT_TOKEN задайте только в окружении backend.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fee41b6ed4452"/>
          <a:srcRect xmlns:a="http://schemas.openxmlformats.org/drawingml/2006/main" l="0" t="6102" r="0" b="6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19100"/>
            <a:ext cx="3238500" cy="16002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E91CC-1137-45D2-B472-E6C3E71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D1DCEF"/>
                </a:solidFill>
                <a:latin typeface="Arial"/>
                <a:ea typeface="Arial"/>
                <a:cs typeface="Arial"/>
              </a:rPr>
              <a:t>Иллюстрация кампусной среды</a:t>
            </a:r>
          </a:p>
        </p:txBody>
      </p:sp>
    </p:spTree>
    <p:extLst>
      <p:ext uri="{BB962C8B-B14F-4D97-AF65-F5344CB8AC3E}">
        <p14:creationId xmlns:p14="http://schemas.microsoft.com/office/powerpoint/2010/main" val="183713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4C23A-FD25-4CD3-A79C-691D238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НАПАРЕ · КОМАНДА: ДОБАВИТЬ ИМЕНА УЧАСТНИКОВ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DF8EC-495A-4C7F-87B7-42B6247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Приоритетный пользователь и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B175-5BF0-41D0-BCE5-EE3DD70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6242-1789-47B3-97ED-B5CD083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52DA-8F1B-4863-BCA4-D934FA7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78D1-0D6C-496B-99F3-EE0D9DC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СТУДЕНТ ОЧНОЙ УЧЕБНОЙ ГРУППЫ СИБИТА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F7DE4-9F7F-42ED-8EFC-F62006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Нужно подтвердить присутствие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конкретной паре и сразу понять,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отметка сохранена.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DB4B-8BD5-428F-B5A7-A61FA6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01E84-4A7D-4F7D-9EAB-92284F0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известно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DCB42-0F65-43DA-AC62-1C6C962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В NaPare уже есть ручной учёт посещаемости и серверные записи. В текущем процессе преподаватель отмечает группу, а студенту может потребоваться отдельно уточнять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EFC88-445F-4533-B21B-4C0C2AA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58450" cy="1057275"/>
          </a:xfrm>
          <a:prstGeom xmlns:a="http://schemas.openxmlformats.org/drawingml/2006/main" prst="roundRect">
            <a:avLst>
              <a:gd name="adj" fmla="val 1441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0924-8B2C-454A-B07F-4B44E73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Доказательства и гипотезы разделены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B9413-E653-41DB-B49C-9632AC8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Факт: учёт посещаемости есть в продукте. Гипотезы пилота: ручная перекличка отнимает время; подтверждение студенту нужно сразу. Интервью и замер базового времени ещё предстоит провести.</a:t>
            </a:r>
          </a:p>
        </p:txBody>
      </p:sp>
    </p:spTree>
    <p:extLst>
      <p:ext uri="{BB962C8B-B14F-4D97-AF65-F5344CB8AC3E}">
        <p14:creationId xmlns:p14="http://schemas.microsoft.com/office/powerpoint/2010/main" val="1105043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FFD06-9D35-446F-B08B-5DAB51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C0A09-AD1D-480A-AD60-44AA15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Один законченный сценарий посещаемости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0307-E799-484C-8F86-52B4BE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6B212-352B-4C4F-BAC4-AFFCE35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B17F-9871-4365-9DBA-524220EF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3FA2-8DED-4257-909C-6E82F7D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FDDB-30B4-4975-92F0-2E0C23C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C61C-5E2E-435F-9701-66A33AF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Выбирает свою пару и показывает QR.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3A3CB-9CB9-4EFF-8FB7-4F648C1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6841B-721D-495D-A230-68F39CB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F45B0-E9F9-4B04-AB7A-D686BF6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Открывает приложение кнопкой бота MAX.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A0D0E-3A59-4F8B-9399-6ED97037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4192A-5659-42BC-97B0-FE2E0AC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Первый вход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A2F8-97E1-46DE-B973-59ED37E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Связывает MAX с университетской учётной записью.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BEED-0D02-4832-B409-083A2A2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1D531-C1D9-4709-AFDB-3B2D423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3D452-5E93-490F-8C72-19EE9D4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Сканирует QR; сервер проверяет аккаунт, группу и срок.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3DC6D-F277-494E-B124-F8DCB41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A19EC-99C5-4CF2-BE3A-39286FE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3C250-3FCB-4A29-81D6-24EF42E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Видит статус отметки и переходит к пространству пары.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C08BA-597F-429E-BC45-05EB67A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6FEC-B225-40E6-8AC2-A13D9CC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060EC-C1F5-42A7-963D-1110282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49819-52FB-4F71-86D0-B2D1DB81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698BC-6E6C-42CE-8025-0FC3B6B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584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B5BCB-D90A-41B7-AAF9-50670BA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Защита от ошибок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DC4F0-F525-4A3D-B163-93C6249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76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действует 90 секунд · повторный запрос не создаёт вторую отметку · данные проверяются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478356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423EE-ED8C-4D99-B84F-99F94E3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B7BF-060C-44E4-BB25-84C8A6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Зачем здесь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55B1-C915-424D-B1EB-F0FBF5A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89B15-D902-49D8-ACA5-0B573F6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CCF7-5AD6-4F4C-ADC6-F553722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77D14-56DB-4ECF-87FC-D1706DA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ТОТ ЖЕ САЙТ · ВНУТРИ БОТА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557B8-9CB8-4D55-979F-4CDCF3D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Кнопка «Открыть»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запускает web-portal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 окне MAX.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B02B-1F36-449A-8D4A-9F1438F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Не отдельная копия кабинета: один адрес сайта обслуживает обычный браузер и MAX WebApp.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056AD-24C3-4AFC-A260-30D2AEE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859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5B80-9F57-4B27-90F3-D950C27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02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Идентичность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8A90-D05C-4812-9DCD-BAF9411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 передаёт подписанные initData; backend проверяет подпись и срок.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36B44-B987-45EA-862C-5735DB9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29FBC-BACE-4615-A727-575DD28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Связь с аккаунтом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9BCA-7834-4FA7-A4EB-C0C5414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Первый вход — логин и пароль вуза; далее MAX открывает кабинет связанного пользователя.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0AD5-ABFB-45EF-951C-8955230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965F1-517D-47CC-AE69-928D6C5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Нативный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351EE-C419-478A-BE75-3778A60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MAX сканирует QR. В MAX Web предусмотрен локальный QR-сканер камеры браузера с запросом разрешения.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53BF8-4B29-4285-B635-54A5FC2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D3667-BC8C-417F-8BD1-7210EA3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Ещё в 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3BB65-07FF-461E-9239-D236881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Нативная кнопка «Назад» и отправка расписания через MAX share sheet.</a:t>
            </a:r>
          </a:p>
        </p:txBody>
      </p:sp>
    </p:spTree>
    <p:extLst>
      <p:ext uri="{BB962C8B-B14F-4D97-AF65-F5344CB8AC3E}">
        <p14:creationId xmlns:p14="http://schemas.microsoft.com/office/powerpoint/2010/main" val="248664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26ADE-923E-4BA4-8131-F31DD2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11FE9-5A19-4D53-AA4F-EF1373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получает студент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A897-FEB6-4F51-8081-2AD57335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D74A-2EF3-457B-A06F-7C38354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10C4-54E4-47B1-BD13-7BBAEC6E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1662-7016-4670-9FBB-B834A9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3788-0EC9-480E-8CFE-D1D910C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4FEF-4299-41A3-AE2E-C34E1D3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 сканирования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AA377-4602-4212-A3DA-89899C8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открывается после нажатия. Отказ в разрешении объясняется; сканирование можно отменить.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D782-F42A-4E93-9AE5-415DF09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90328-5570-47A7-8995-54BE162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C3A6-995B-400C-A314-B23A19A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Успешная отметка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E08E-AA47-47BC-BA55-7603868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Сервис сообщает, что посещение отмечено, и предлагает открыть пространство этой пары.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1943-B236-4A16-9E07-92C0CA9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F914A-5E49-442D-AC4B-766A9C15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14D1-361D-4101-9FED-3FDB8C7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CBF0C-8A70-44C6-91CB-278CC33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Показывается, что отметка уже существует; вторая запись не создаётся.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B0D8E-4C1B-42B8-8929-5C7C8F3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C1FAB-991C-462E-9CCA-D4F609D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E61FE-EEDC-4D60-9709-3F7E9E6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C560C-A7DE-4A65-80BA-B7281C9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Неверный код, истёкший QR или чужая группа получают понятное сообщение и следующий шаг.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50764-4D3D-4F9B-A85C-3D2AE4D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 принадлежит текущему студенту и его учебному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1230964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82D24-6F02-46CF-97B8-F82FB82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9E59-66F4-40A7-9D17-25BF8B6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Состав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3983-F7FE-49EA-B5D9-1C5D316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5B339-6866-4C84-ABE4-8043AC6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32ECC-64A1-4A1D-B0FA-FB327DE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3660F-E52C-4258-B25A-EB25F3E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0686-2463-497D-9A0D-AA13FE8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758EB-1478-4D7C-B003-0ED5C2A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и Mini App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F329-4987-4028-88EC-64659F3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1D9E8-8A1F-4B37-9CCF-61501A3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81F5-56DB-4805-8D58-1C24910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C96B-215C-4A80-AF6C-28AFF36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web-portal + ролевые страницы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BCE2-F1AC-44FE-B42F-DA78C99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757F4-9AFE-4EC8-A1BD-61AB236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F993B-6BD1-405A-B7DB-7F9922A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E5874-C09E-4EC5-A9AC-03FB157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NestJS: MAX auth, QR, роли и группа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3C27-0034-471B-AC0B-6BBB1F2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F489-7883-42FB-945A-8571CEE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0A666-424A-415E-85F5-F9E108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5AFAE-B0BA-4B5D-9A3A-5604B5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PostgreSQL: занятие и отметка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CD05-60E1-4C5C-834C-FCEE37D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Запуск приложения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6E536-A7DA-4B19-B273-DAB9645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button → общий сайт → проверка initData → роль пользователя → нужный кабинет.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EE8CB-6EA7-4B08-A10C-5E6EB29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Контейнеры проекта запускаются через Docker Compose. Переменные и внешние интеграции задаются через .env из безопасного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908466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248AD-4872-41D1-8A4F-798E194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87913-506D-48CB-8BAA-F06D921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Как измерить эффект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4B0CA-47D6-44D9-9211-CB149ED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0795F-67F0-451C-85D5-71BC9AE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662A-D429-468B-A1D4-281D6E7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1ED7-36A5-44E8-B207-63814C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ГИПОТЕЗА, НЕ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494E-769B-4B7D-9293-6628BD9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863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Сократить медианное время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фиксации посещаемости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30% или больше.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826A0-D5EA-43DB-AC56-55C2A17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без увеличения числа исправлений преподавателем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3F84B-3A3E-4DBD-8B55-2A5307A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10DDA-D7F6-48D9-9B27-E008A51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12D0E-AC33-4566-A066-00FE804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F86D-B0A5-4DA3-BF8E-BC91C3A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Ручная отметка группы против QR на нескольких парах.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BBB10-68F3-4722-9B28-E471943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C9768-BBD7-4DC6-BE2D-C8F3F43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Успех с первого раза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DE33F-7E29-4514-9B3D-D49CEEC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студентов, получивших подтверждение без повторной попытки.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ADFA2-397E-486F-B671-7757246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DB445-3218-4F0B-93AA-3A5857D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35525-A523-46A6-B9F9-D613CD9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Дубли и исправления в журнале посещаемости.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34721-C292-4F81-9C1A-6EA86BD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108A0-3074-4A66-AE95-7FC406D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9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вход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A6F0E-C972-43D2-9F3D-2B17E6F8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9577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связанных аккаунтов, открывших кабинет в MAX без пароля.</a:t>
            </a:r>
          </a:p>
        </p:txBody>
      </p:sp>
    </p:spTree>
    <p:extLst>
      <p:ext uri="{BB962C8B-B14F-4D97-AF65-F5344CB8AC3E}">
        <p14:creationId xmlns:p14="http://schemas.microsoft.com/office/powerpoint/2010/main" val="395330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AEE47-AE51-4E56-92F3-ED653C4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721B4-CBAC-458E-90CE-7BB8EF4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Пилот и перенос в другой вуз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81A51-C0EB-4F8E-B48B-21C4DB7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37AF7-7C48-420C-BC3B-EB8108D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95B5-4FAD-434C-90A0-8AFCA04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129CD-F431-45C3-9E8B-D5582F7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ПЕРВЫЙ КОНТЕКСТ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D292-5480-4D6E-8748-64E57DF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Одна очная группа СИБИТа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 один преподаватель.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6653-99B4-4A14-8696-C01033A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Подготовка аккаунтов · проверка группы · пара · MAX бот · HTTPS · наблюдение за несколькими занятиями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6EC5-B949-4661-96AB-ED11F49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62125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0995-9A65-4405-9080-F89DAC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907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переносим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B0F2C-7AD5-408E-AC42-005FE97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Единый веб-клиент, проверку MAX-идентичности и QR-сценарий посещаемости.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8BCAD-ABEF-45D4-B381-2880584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адаптируем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EA9CD-EA10-47D5-99B1-5413159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861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Источник расписания, структуры групп и ролей, правила посещаемости, процессы и требования к данным.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C06D9-D778-48E7-A620-891FE1D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584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2EDF4-50F5-4F6E-BAC5-C36C5C6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Следующий шаг после успешного пилота — повторить запуск на одном факультете и сравнить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600640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C876A-B99F-4A4D-AD67-446D1B4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4E61C-ADE6-410F-861F-EEA4703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Данные, безопасность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5E49C-F54D-4F8F-A601-544938A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F918-8C64-48D6-A132-28667E0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4C0E-6C31-405F-97B9-3990AC6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35DBF-7F40-4CC4-AB1D-28CBF1A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Расписание в демо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BED6-430B-44FC-867F-5D8A01D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Синтетическая тестовая пара source=hackathon-demo. Не является официальным импортом расписания.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7D8E-C588-47FA-B299-4D65813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F48B0-4673-499A-BCDF-2C54AC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Учёт посещения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F61F-B688-47FC-9F68-4D622B7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Тестовая запись создаётся во время показа через API и не выдаётся за реальную статистику.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4C43F-2852-4C46-B471-8217A7C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80FAE-6A32-493B-BE4A-E33C94E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2D7D4-357E-40BD-AEAB-8ABB568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initData проверяется на backend с bot token и сроком действия; пароли не сохраняются клиентом.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3FAD5-F364-4EB9-8524-DAC427A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24B38-BC12-437A-A25A-9CDEBFA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C269-9771-45CD-BBC3-31257B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577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QR действует 90 секунд; повторная отметка студента блокируется. Передача кода не доказывает, что студент присутствует.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1E651-21A6-4CD3-81CC-12FBBF3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CEFAF-E694-4D53-ACEA-94D1F29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4A21E-E8FD-43B2-A16F-35DBB9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Подключение официального расписания, расширение на другие вузы и пилотные исследования требуют отдельной настройки и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8778604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BA08-10EB-40F1-934C-03C1C6E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7E33F-39D4-476B-A5A3-646CB02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DDF5-AD57-4DEB-AD72-89BBEF3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037C-FB31-46A4-A726-64F4808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версия материалов для заполнения после выкладки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74CA-8D49-47FB-83DD-4E33796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71F84-60B7-4720-A8D7-C32B408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ТРЕБОВАНИЯ КЕЙСА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C482-E86D-4AFC-8294-A65285D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0497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«Образовательные решения», стр. 6–12 и 17–20: онлайн MVP, обязательные материалы, критерии оценки, As Is / To Be, пилот, данные и масштабирование.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C50C-B2A3-4881-8F7F-23E446F1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374F-A74D-498E-B799-4D964A6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ПЛАТФОРМА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3EF9-5D72-44D4-8F28-0F6F03F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Bridge: https://dev.max.ru/docs/webapps/bridge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Проверка initData: https://dev.max.ru/docs/webapps/validation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Подключение Mini App к боту: https://dev.max.ru/docs/webapps/introduction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8B4D-BDA1-41DA-BAD1-936B461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2B289-D291-4386-A293-4F73F217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КОД И ДЕМО-ДАННЫЕ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58EA-2120-4638-9673-1D51A0B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4812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README.md · docs/hackathon-demo.md · docs/clients/max-miniapp.md · apps/backend/src/auth · apps/backend/src/absences. Демонстрационная пара помечена как синтетическая; интервью и замер эффекта ещё не проводились.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495D6-35C3-4BC3-8D6F-455E956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A7F8E-1DBD-441A-B589-61A6470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Неиспользованные или модельные интеграции не выдаются за подключённые официальные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48821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3570C-4851-419B-BE2D-1263A51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49FD-F8F0-4A29-9317-B0A1BB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8331A-E8D6-495C-BE44-F4A123C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09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42FF0-5D3A-4093-950C-8084748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67B31-8218-402B-8D2D-40E1484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Опубликовать исходник и записать commit hash финальной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E8B06-2B81-4C52-8AB5-DA4013B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1BDE8-D9DD-4B07-92E0-4ADFE43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F7008-8851-433B-8526-6632C44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одобренного MAX-бота к https://napare.sano.ru/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1670E-EE77-4AF3-82CE-1D0D787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0E103-2EB5-4327-AFC5-0CE1FAC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A20B-E69B-4ECC-BE45-0ECC065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Развернуть текущую версию сайта, API и HTTPS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910E-C27B-4ECC-9E80-00F3FF5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F262-8F47-4B99-943C-137F9962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C9F77-6D9B-4399-AA33-70A91F0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отдельные тестовые аккаунты и пару демо через защищённый скрипт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457A-1217-4798-AD43-ACFABEC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8F432-6D86-4E60-9FE2-1873EF9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C6B7A-BAF9-4E9D-AE64-5835281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Передать проверяющим ссылку бота, логин/пароль и пошаговый путь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A3D27-2AD1-4BD1-A540-51668D9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4EA7C-B052-4688-83DB-62C9874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87079-FD7A-4707-9B73-B234A75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первый вход, повторный вход и одну QR-отметку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BBC14-14E6-46AE-B1B9-78FB720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0BF8F-8A6A-497F-890D-83114AF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2E8"/>
                </a:solidFill>
                <a:latin typeface="Arial"/>
                <a:ea typeface="Arial"/>
                <a:cs typeface="Arial"/>
              </a:rPr>
              <a:t>До выполнения этих шагов не заявляй, что публичный запуск уже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0445269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03381E-5596-4E36-A05E-096DF9D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6A190-9D07-47EC-A8E4-5611A36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ДЕМО-ДОСТУПЫ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233C8-277B-418B-BA2E-5500D37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2A82-7F36-4C02-BF43-601BF86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Откройте MAX-бота и войдите под ролью, которую показываете.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D242B-63D5-4357-8DDA-DFA979A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F2622-4BEA-4D8F-8FBA-BFF1FDE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34089-046E-484C-A3C3-5ADA3DA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6B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6BEA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F104-287C-42D4-90E9-4DFB1C5D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EB2A6-0F36-446B-9751-5D5F2C4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student@napare.sano.ru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B43B-DF59-4A64-93E4-1D7F22C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4152-7E3B-4191-9AD2-ACBD34E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14aa2d4e430c0fcb8d7eda82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5BDC1-3D0A-4829-AD64-1D7AF7B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2DFA-1EF7-4FDC-BEE6-6510754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DF7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87C53-B8C0-40A7-91B4-53F30BF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0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60821-1CA2-4BA1-9AC3-9282A3B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FD9ED-2DC7-482F-B5C4-6BC7E2D5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teacher@napare.sano.ru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97844-CF7A-4047-823E-9272A4C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84E31-16BE-4768-8C62-E504165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4802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a3a0232247c39c35aeb204a2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52C9B-7BDA-47DF-BA46-A627F48C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F7CC-2A14-4D9D-B591-2D4CD39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594A2-B9BC-4E08-ABE7-B0A722C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78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781B"/>
                </a:solidFill>
                <a:latin typeface="Arial"/>
                <a:ea typeface="Arial"/>
                <a:cs typeface="Arial"/>
              </a:rPr>
              <a:t>ДЕКАНАТ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3DD75-075E-413D-951F-7769866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CBFC0-E21E-4491-A3DC-5A4FC74D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148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deanery@napare.sano.ru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780BC-6837-4E55-A0A6-A4C3DB0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CF655-A91C-4689-A71F-95507F2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ffcd6f32257bb90a89228691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A36DA-B28A-4AD3-A42E-C6D8B3F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414A7-A774-4D9C-8FB6-DB9E8DE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BE7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8EA70-50DF-4F27-B813-59B1A5D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15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5BC8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C4E10-5677-4899-ACCC-784BF2F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A20E0-5336-45D7-BCCB-E061866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815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developer@napare.sano.ru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038FB-3484-4FBB-88C5-EC8E04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49926-887E-40BA-ADA7-4536C80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8157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02ce79a3e6f5aae14cbf44a0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518C6-598F-4D63-9AE0-52C0469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3676650" cy="523875"/>
          </a:xfrm>
          <a:prstGeom xmlns:a="http://schemas.openxmlformats.org/drawingml/2006/main" prst="roundRect">
            <a:avLst>
              <a:gd name="adj" fmla="val 30909"/>
            </a:avLst>
          </a:prstGeom>
          <a:solidFill xmlns:a="http://schemas.openxmlformats.org/drawingml/2006/main">
            <a:srgbClr val="2768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24CD-B719-42F8-AF11-0DAE5C7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f76d360a7b8b4efc"/>
              </a:rPr>
              <a:t>Открыть MAX-бота  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2C9C2-F09E-4CF6-ADCF-CF73CAD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97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5D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DFF0"/>
                </a:solidFill>
                <a:latin typeface="Arial"/>
                <a:ea typeface="Arial"/>
                <a:cs typeface="Arial"/>
              </a:rPr>
              <a:t>https://max.ru/id550146543714_bot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C06662-9A9C-4E68-B618-3DABE874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Для входа и привязки MAX используйте отдельные аккаунты студента 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20820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2026-09-29T14:03:14.8170000Z</dcterms:created>
  <dcterms:modified xsi:type="dcterms:W3CDTF">2026-09-29T14:03:14.8170000Z</dcterms:modified>
</coreProperties>
</file>