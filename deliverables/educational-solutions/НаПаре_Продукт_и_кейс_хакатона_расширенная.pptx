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8a43d061704ed4" /><Relationship Type="http://schemas.openxmlformats.org/officeDocument/2006/relationships/extended-properties" Target="/docProps/app.xml" Id="R0cc8d18a7dec4aa9" /><Relationship Type="http://schemas.openxmlformats.org/officeDocument/2006/relationships/officeDocument" Target="/ppt/presentation.xml" Id="R21ca31f06c4a43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1fd469f60d42bd"/>
  </p:sldMasterIdLst>
  <p:notesMasterIdLst>
    <p:notesMasterId xmlns:r="http://schemas.openxmlformats.org/officeDocument/2006/relationships" r:id="R726c41047a344f79"/>
  </p:notesMasterIdLst>
  <p:sldIdLst>
    <p:sldId xmlns:r="http://schemas.openxmlformats.org/officeDocument/2006/relationships" id="256" r:id="R1e296747c1fb4807"/>
    <p:sldId xmlns:r="http://schemas.openxmlformats.org/officeDocument/2006/relationships" id="257" r:id="R7328dea7072c4d5f"/>
    <p:sldId xmlns:r="http://schemas.openxmlformats.org/officeDocument/2006/relationships" id="258" r:id="R6ab377fce0b1486c"/>
    <p:sldId xmlns:r="http://schemas.openxmlformats.org/officeDocument/2006/relationships" id="259" r:id="Rb3ee8d189a254c62"/>
    <p:sldId xmlns:r="http://schemas.openxmlformats.org/officeDocument/2006/relationships" id="260" r:id="R043cd687e8924553"/>
    <p:sldId xmlns:r="http://schemas.openxmlformats.org/officeDocument/2006/relationships" id="261" r:id="R184d8b663a354bb4"/>
    <p:sldId xmlns:r="http://schemas.openxmlformats.org/officeDocument/2006/relationships" id="262" r:id="R7e257f9079ca4f44"/>
    <p:sldId xmlns:r="http://schemas.openxmlformats.org/officeDocument/2006/relationships" id="263" r:id="R8a305fa1d7d444ac"/>
    <p:sldId xmlns:r="http://schemas.openxmlformats.org/officeDocument/2006/relationships" id="264" r:id="R8fe982b5bc974b55"/>
    <p:sldId xmlns:r="http://schemas.openxmlformats.org/officeDocument/2006/relationships" id="265" r:id="R66601a4a2c0e44f6"/>
    <p:sldId xmlns:r="http://schemas.openxmlformats.org/officeDocument/2006/relationships" id="266" r:id="R45dda7b1df2b4671"/>
    <p:sldId xmlns:r="http://schemas.openxmlformats.org/officeDocument/2006/relationships" id="267" r:id="R19d79ed2a1d04a27"/>
    <p:sldId xmlns:r="http://schemas.openxmlformats.org/officeDocument/2006/relationships" id="268" r:id="Rb3d618c39dcc470f"/>
    <p:sldId xmlns:r="http://schemas.openxmlformats.org/officeDocument/2006/relationships" id="269" r:id="Rb63809db445b4b73"/>
    <p:sldId xmlns:r="http://schemas.openxmlformats.org/officeDocument/2006/relationships" id="270" r:id="R28ad011164da4401"/>
    <p:sldId xmlns:r="http://schemas.openxmlformats.org/officeDocument/2006/relationships" id="271" r:id="R9536b4412f6144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02806e6ec6441b" /><Relationship Type="http://schemas.openxmlformats.org/officeDocument/2006/relationships/slideMaster" Target="/ppt/slideMasters/slideMaster1.xml" Id="Rbe1fd469f60d42bd" /><Relationship Type="http://schemas.openxmlformats.org/officeDocument/2006/relationships/notesMaster" Target="/ppt/notesMasters/notesMaster1.xml" Id="R726c41047a344f79" /><Relationship Type="http://schemas.openxmlformats.org/officeDocument/2006/relationships/presProps" Target="/ppt/presProps.xml" Id="R5f7502ae49f14d04" /><Relationship Type="http://schemas.openxmlformats.org/officeDocument/2006/relationships/viewProps" Target="/ppt/viewProps.xml" Id="Rd36c7d422d974e51" /><Relationship Type="http://schemas.openxmlformats.org/officeDocument/2006/relationships/tableStyles" Target="/ppt/tableStyles.xml" Id="R83ce413466a84176" /><Relationship Type="http://schemas.openxmlformats.org/officeDocument/2006/relationships/slide" Target="/ppt/slides/slide1.xml" Id="R1e296747c1fb4807" /><Relationship Type="http://schemas.openxmlformats.org/officeDocument/2006/relationships/slide" Target="/ppt/slides/slide2.xml" Id="R7328dea7072c4d5f" /><Relationship Type="http://schemas.openxmlformats.org/officeDocument/2006/relationships/slide" Target="/ppt/slides/slide3.xml" Id="R6ab377fce0b1486c" /><Relationship Type="http://schemas.openxmlformats.org/officeDocument/2006/relationships/slide" Target="/ppt/slides/slide4.xml" Id="Rb3ee8d189a254c62" /><Relationship Type="http://schemas.openxmlformats.org/officeDocument/2006/relationships/slide" Target="/ppt/slides/slide5.xml" Id="R043cd687e8924553" /><Relationship Type="http://schemas.openxmlformats.org/officeDocument/2006/relationships/slide" Target="/ppt/slides/slide6.xml" Id="R184d8b663a354bb4" /><Relationship Type="http://schemas.openxmlformats.org/officeDocument/2006/relationships/slide" Target="/ppt/slides/slide7.xml" Id="R7e257f9079ca4f44" /><Relationship Type="http://schemas.openxmlformats.org/officeDocument/2006/relationships/slide" Target="/ppt/slides/slide8.xml" Id="R8a305fa1d7d444ac" /><Relationship Type="http://schemas.openxmlformats.org/officeDocument/2006/relationships/slide" Target="/ppt/slides/slide9.xml" Id="R8fe982b5bc974b55" /><Relationship Type="http://schemas.openxmlformats.org/officeDocument/2006/relationships/slide" Target="/ppt/slides/slide10.xml" Id="R66601a4a2c0e44f6" /><Relationship Type="http://schemas.openxmlformats.org/officeDocument/2006/relationships/slide" Target="/ppt/slides/slide11.xml" Id="R45dda7b1df2b4671" /><Relationship Type="http://schemas.openxmlformats.org/officeDocument/2006/relationships/slide" Target="/ppt/slides/slide12.xml" Id="R19d79ed2a1d04a27" /><Relationship Type="http://schemas.openxmlformats.org/officeDocument/2006/relationships/slide" Target="/ppt/slides/slide13.xml" Id="Rb3d618c39dcc470f" /><Relationship Type="http://schemas.openxmlformats.org/officeDocument/2006/relationships/slide" Target="/ppt/slides/slide14.xml" Id="Rb63809db445b4b73" /><Relationship Type="http://schemas.openxmlformats.org/officeDocument/2006/relationships/slide" Target="/ppt/slides/slide15.xml" Id="R28ad011164da4401" /><Relationship Type="http://schemas.openxmlformats.org/officeDocument/2006/relationships/slide" Target="/ppt/slides/slide16.xml" Id="R9536b4412f6144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b0bcdc92964f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199042cbae4be1" /><Relationship Type="http://schemas.openxmlformats.org/officeDocument/2006/relationships/notesMaster" Target="/ppt/notesMasters/notesMaster1.xml" Id="Rc0e6c863c3a64f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bbff8f11b745e0" /><Relationship Type="http://schemas.openxmlformats.org/officeDocument/2006/relationships/notesMaster" Target="/ppt/notesMasters/notesMaster1.xml" Id="R7452348eddf44e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3241f92d254098" /><Relationship Type="http://schemas.openxmlformats.org/officeDocument/2006/relationships/notesMaster" Target="/ppt/notesMasters/notesMaster1.xml" Id="R34eb74d33e854a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ca749d19224ad0" /><Relationship Type="http://schemas.openxmlformats.org/officeDocument/2006/relationships/notesMaster" Target="/ppt/notesMasters/notesMaster1.xml" Id="R42848bfb394d49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16c1b364034967" /><Relationship Type="http://schemas.openxmlformats.org/officeDocument/2006/relationships/notesMaster" Target="/ppt/notesMasters/notesMaster1.xml" Id="Rd6e3d0d5fc494d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f2b322452b4f0b" /><Relationship Type="http://schemas.openxmlformats.org/officeDocument/2006/relationships/notesMaster" Target="/ppt/notesMasters/notesMaster1.xml" Id="Ref77a0aaa46e48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597bbfd6f34340" /><Relationship Type="http://schemas.openxmlformats.org/officeDocument/2006/relationships/notesMaster" Target="/ppt/notesMasters/notesMaster1.xml" Id="R16fc1513b7e345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df74ce2ddf458b" /><Relationship Type="http://schemas.openxmlformats.org/officeDocument/2006/relationships/notesMaster" Target="/ppt/notesMasters/notesMaster1.xml" Id="Rabe5c731906343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29ec325c0342d3" /><Relationship Type="http://schemas.openxmlformats.org/officeDocument/2006/relationships/notesMaster" Target="/ppt/notesMasters/notesMaster1.xml" Id="Rdfe5f7ddae5f49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7a2bfcd242427e" /><Relationship Type="http://schemas.openxmlformats.org/officeDocument/2006/relationships/notesMaster" Target="/ppt/notesMasters/notesMaster1.xml" Id="R985bb86644874c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02de9b77a2421a" /><Relationship Type="http://schemas.openxmlformats.org/officeDocument/2006/relationships/notesMaster" Target="/ppt/notesMasters/notesMaster1.xml" Id="R7c1dd51c37264a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24279cb4a24344" /><Relationship Type="http://schemas.openxmlformats.org/officeDocument/2006/relationships/notesMaster" Target="/ppt/notesMasters/notesMaster1.xml" Id="R71780f20f74a49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d62c3627aa4834" /><Relationship Type="http://schemas.openxmlformats.org/officeDocument/2006/relationships/notesMaster" Target="/ppt/notesMasters/notesMaster1.xml" Id="R419caa7b97504a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a57179a7144856" /><Relationship Type="http://schemas.openxmlformats.org/officeDocument/2006/relationships/notesMaster" Target="/ppt/notesMasters/notesMaster1.xml" Id="R78d8bebf9e3948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a7111d03824815" /><Relationship Type="http://schemas.openxmlformats.org/officeDocument/2006/relationships/notesMaster" Target="/ppt/notesMasters/notesMaster1.xml" Id="R41c08e9c03e649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938b23d8794eca" /><Relationship Type="http://schemas.openxmlformats.org/officeDocument/2006/relationships/notesMaster" Target="/ppt/notesMasters/notesMaster1.xml" Id="R271eb9881f9e4b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отправкой заявки заполнить ссылку одобренного бота, URL доступной версии, commit hash, API base, пароли тестовых учёток и MAX_BOT_TOKEN согласно формату кейса. Приватную карточку для проверяющих не коммитить в репозиторий и передавать установленным организаторами защищённым способом. Источник обязательных технических требований: пользовательский PDF «Образовательные решения», стр. 9–10.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фактов и пробелов в доказательствах взято из docs/product-roadmap-vcourse-comparison.md. Не выдавать гипотезы про длительность переклички за результаты исследования. Рекомендации по узкой аудитории и разделению фактов/гипотез: PDF «Образовательные решения», стр.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и правила QR описаны в docs/hackathon-demo.md и приложении: QR TTL 90 секунд; сервер ограничивает сессию занятием, группой и ролью; повторная отметка идемпотентна.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Сайт использует официальный MAX Bridge: https://dev.max.ru/docs/webapps/bridge. Управление ботом и подключение к нему готового мини-приложения описаны на https://dev.max.ru/docs/chatbots/bots-create/manage и https://dev.max.ru/docs/webapps/introduction. Платформенная привязка бота к URL задаётся владельцем в MAX для бизнеса; репозиторий не может настроить её 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Тексты состояний описывают реализованную механику интерфейса и backend. Не заявлять отсутствие любых ошибок; допустимый результат проверяющего — корректная реакция на разные состояния сценария.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соответствует docs/clients/max-miniapp.md, docs/architecture/system-overview.md и docker-compose.prod.yml. MAX bot URL и авторизационный token создаются/настраиваются на платформе MAX; секрет хранится в backend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30% и способ замера — гипотеза из docs/product-roadmap-vcourse-comparison.md и docs/hackathon-demo.md. Ни замеры, ни пилотные результаты не заявляются как завершённые.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пилота и переменные масштабирования из docs/hackathon-demo.md, docs/product-roadmap-vcourse-comparison.md и рекомендаций PDF «Образовательные решения», стр. 19–20.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ограничения данных описаны в docs/hackathon-demo.md. Рекомендации кейса о первоисточниках, актуальности и разделении факта/модели: PDF «Образовательные решения», стр.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требует показывать источники информации и различать факты и гипотезы. Ссылки на MAX — официальная документация разработчиков. Архитектура и механики подтверждаются исходниками перечисленных модулей; метрика и пользовательский эффект остаются гипотезой до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выпуска и ограничения проверки см. docs/hackathon-demo.md и DEPLOY.md. Текущая презентация специально не содержит паролей и рабочего MAX_BOT_TOKEN.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Тестовые логины и пароли предоставлены владельцем проекта для демонстрации. Ссылка ведёт на MAX-бота: https://max.ru/id550146543714_bot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0973ba7d547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d9ed477af74f79" /><Relationship Type="http://schemas.openxmlformats.org/officeDocument/2006/relationships/slideLayout" Target="/ppt/slideLayouts/slideLayout1.xml" Id="Rcf814a05b5de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14a05b5de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1c7b48f0b4dc7" /><Relationship Type="http://schemas.openxmlformats.org/officeDocument/2006/relationships/hyperlink" Target="https://max.ru/id550146543714_bot" TargetMode="External" Id="Rcfd920c946534792" /><Relationship Type="http://schemas.openxmlformats.org/officeDocument/2006/relationships/hyperlink" Target="https://github.com/DeminLab/NaPare" TargetMode="External" Id="Rb685414837854415" /><Relationship Type="http://schemas.openxmlformats.org/officeDocument/2006/relationships/image" Target="/ppt/media/image.png" Id="R752687776b154ba8" /><Relationship Type="http://schemas.openxmlformats.org/officeDocument/2006/relationships/notesSlide" Target="/ppt/notesSlides/notesSlide1.xml" Id="Rc0b6d406942049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c8a3931234532" /><Relationship Type="http://schemas.openxmlformats.org/officeDocument/2006/relationships/image" Target="/ppt/media/image.jpeg" Id="R60ba9d0cc3654f86" /><Relationship Type="http://schemas.openxmlformats.org/officeDocument/2006/relationships/notesSlide" Target="/ppt/notesSlides/notesSlide2.xml" Id="R9d0edc1eb2734d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4fce398dd46f4" /><Relationship Type="http://schemas.openxmlformats.org/officeDocument/2006/relationships/image" Target="/ppt/media/image2.jpeg" Id="R43a97cb90c1e4983" /><Relationship Type="http://schemas.openxmlformats.org/officeDocument/2006/relationships/notesSlide" Target="/ppt/notesSlides/notesSlide3.xml" Id="R3d3d40f41b1a4b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86d6fff1844ea" /><Relationship Type="http://schemas.openxmlformats.org/officeDocument/2006/relationships/notesSlide" Target="/ppt/notesSlides/notesSlide4.xml" Id="R9eba71b6e8114d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15b0b1bfb4d28" /><Relationship Type="http://schemas.openxmlformats.org/officeDocument/2006/relationships/notesSlide" Target="/ppt/notesSlides/notesSlide5.xml" Id="R6bfa7022b6ef4a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fdb00adb54249" /><Relationship Type="http://schemas.openxmlformats.org/officeDocument/2006/relationships/notesSlide" Target="/ppt/notesSlides/notesSlide6.xml" Id="R09ea189b760b44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c8efc0ab242eb" /><Relationship Type="http://schemas.openxmlformats.org/officeDocument/2006/relationships/notesSlide" Target="/ppt/notesSlides/notesSlide7.xml" Id="R235eb3c08cf945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10935e27f4c3d" /><Relationship Type="http://schemas.openxmlformats.org/officeDocument/2006/relationships/notesSlide" Target="/ppt/notesSlides/notesSlide8.xml" Id="R54ec4a3e759149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d1464f6814309" /><Relationship Type="http://schemas.openxmlformats.org/officeDocument/2006/relationships/notesSlide" Target="/ppt/notesSlides/notesSlide9.xml" Id="Rf0a5b80625d14d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f1b5e954341c9" /><Relationship Type="http://schemas.openxmlformats.org/officeDocument/2006/relationships/notesSlide" Target="/ppt/notesSlides/notesSlide10.xml" Id="R90d07c8fd6ab49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8531fe75b4d37" /><Relationship Type="http://schemas.openxmlformats.org/officeDocument/2006/relationships/notesSlide" Target="/ppt/notesSlides/notesSlide11.xml" Id="R15a6af38caf247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58c8518224a37" /><Relationship Type="http://schemas.openxmlformats.org/officeDocument/2006/relationships/notesSlide" Target="/ppt/notesSlides/notesSlide12.xml" Id="Rbfee9e0b9cab4d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18e67fa734777" /><Relationship Type="http://schemas.openxmlformats.org/officeDocument/2006/relationships/notesSlide" Target="/ppt/notesSlides/notesSlide13.xml" Id="R38611fa57e3749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bdcfe1f24431e" /><Relationship Type="http://schemas.openxmlformats.org/officeDocument/2006/relationships/notesSlide" Target="/ppt/notesSlides/notesSlide14.xml" Id="Rc9ed318f947e4c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e19f99f1f4fd1" /><Relationship Type="http://schemas.openxmlformats.org/officeDocument/2006/relationships/notesSlide" Target="/ppt/notesSlides/notesSlide15.xml" Id="R0e33302f260d43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b64d9e4e248b2" /><Relationship Type="http://schemas.openxmlformats.org/officeDocument/2006/relationships/hyperlink" Target="https://max.ru/id550146543714_bot" TargetMode="External" Id="Rae51a1c5b27e4f63" /><Relationship Type="http://schemas.openxmlformats.org/officeDocument/2006/relationships/notesSlide" Target="/ppt/notesSlides/notesSlide16.xml" Id="Rf56d7437080b45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6D935560-F12D-4C92-9B22-44DB64D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80E534F-F2FF-4DF6-B9C5-38E78949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ТЕХНИЧЕСКАЯ КАРТОЧКА · КОМАНДА ПРОЕКТА: НАПАРЕ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190648A-E48A-4A6A-AF5F-763F1BB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7D3B3CC7-52A4-4CA4-A0C2-8D44311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Подтверждение посещения пары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внутри MAX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8507911E-6496-47E0-ABD9-BBC2D365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NaPare: образовательная платформа и MVP-кейс хакатона «Образовательные решения»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A4825B27-977E-4452-A8F3-674C908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129E850B-C1F0-4D18-A7F1-9B52802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БОТ MAX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C7239D1-6BF1-477A-A8B2-86D232C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cfd920c946534792"/>
              </a:rPr>
              <a:t>https://max.ru/id550146543714_bot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8FF45FA3-5ECA-4096-A2AD-F7720AB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615FE3E7-F253-4490-BFD1-0B1C35C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ВЕБ-ПРИЛОЖЕНИЕ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B02EB752-F9D9-4AF2-9E44-E05405C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/max/ на HTTPS-домене после выкладки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C197BB3-1E69-4F9B-BA17-90C7C70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80F91E17-F422-488F-95E8-A75FE6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3E6E6BEB-8BA2-49D0-803C-72310DD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b685414837854415"/>
              </a:rPr>
              <a:t>https://github.com/DeminLab/NaPare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6E988516-F1D8-4138-8796-15C750D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681F4480-2E3A-4766-A6BA-06118BB4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COMMIT ФИНАЛЬНОЙ ВЕРСИИ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DF5D364B-4799-4BA1-8636-20D93A1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Публичный запуск проверяется после выкладки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BB2AA308-066C-4307-8947-3540E1A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11ED1866-B195-4D02-8C2A-6BB4A81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 И SWAGGER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4E0E0968-140E-4187-BE5F-6BD099B0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/api/v1/docs · после запуска стенда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79406810-FBFF-4823-B4A5-199027AC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291263C3-35E8-4002-8E5E-3FCE9BD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ТЕСТОВЫЕ РОЛИ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FC85189D-031D-459F-93AC-70B717E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 с логинами и паролями указаны на последнем слайде.</a:t>
            </a:r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3A7D520D-9E7F-4044-955C-37FCE21E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C5D81B67-F7A1-498F-97CC-0F632695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Исходники подготовлены; публичный запуск проверяется после выкладки. MAX_BOT_TOKEN задаётся только в окружении backend.</a:t>
            </a:r>
          </a:p>
        </p:txBody>
      </p:sp>
      <p:pic>
        <p:nvPicPr>
          <p:cNvPr id="53" name="Рисунок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687776b154ba8"/>
          <a:srcRect xmlns:a="http://schemas.openxmlformats.org/drawingml/2006/main" l="0" t="6102" r="0" b="6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4818" y="200024"/>
            <a:ext cx="5224009" cy="2581275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</p:spTree>
    <p:extLst>
      <p:ext uri="{BB962C8B-B14F-4D97-AF65-F5344CB8AC3E}">
        <p14:creationId xmlns:p14="http://schemas.microsoft.com/office/powerpoint/2010/main" val="1837136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D2A713C-EACB-4566-A7DF-F30F33F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2DBA1EB-C97C-4099-93E5-1C2BBAB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E75F2011-9CB4-4B15-9507-5255D42D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 — кабинет всего учебного процесса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EDEDFE56-AB54-4E31-9413-BC0FF415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50CDEDF-E969-4EC5-BF92-30E1BCDB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Один портал связывает учебный день, работу преподавателя и процессы вуза.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CE600C28-8A8C-4403-906C-A2A6D2C8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384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Студенту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8966F86-CC91-46BA-9BCE-A090D69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Расписание, изменения, материалы и пространство пары.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A609F2F6-C419-4546-8E40-77ECB801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Преподавателю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2B10BB58-F4FF-4B70-B7B7-79794EAF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624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Занятия, объявления, подготовка и работа с группой.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FD488AB7-82ED-4503-A06C-0876E07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Вузу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5AF1C299-8BEE-4F62-B6E4-594FA51D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Пользователи, роли, структура и управление расписанием.</a:t>
            </a:r>
          </a:p>
        </p:txBody>
      </p:sp>
      <p:pic>
        <p:nvPicPr>
          <p:cNvPr id="29" name="Рисунок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a9d0cc3654f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1246" y="2119313"/>
            <a:ext cx="6377354" cy="2938462"/>
          </a:xfrm>
          <a:prstGeom xmlns:a="http://schemas.openxmlformats.org/drawingml/2006/main" prst="roundRect">
            <a:avLst>
              <a:gd name="adj" fmla="val 3784"/>
            </a:avLst>
          </a:prstGeom>
        </p:spPr>
      </p:pic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B67B3EF5-D1B6-48DD-9118-4A7C95F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435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Один аккаунт и единая логика доступа для разных ролей.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074812EF-91C7-49AE-8E4E-265CC9D7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86500"/>
            <a:ext cx="538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FC0D5"/>
                </a:solidFill>
                <a:latin typeface="Arial"/>
                <a:ea typeface="Arial"/>
                <a:cs typeface="Arial"/>
              </a:rPr>
              <a:t>Визуальная концепция продукта, не скриншот действующего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1185414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5FEF5682-7AC1-4652-846E-A20332DC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C4D5DBB4-0207-4F79-8147-FD760A7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EABBCC98-4862-4F30-A99D-552B16F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Студент: от расписания к нужной паре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4C6981B6-5FE4-4493-A9A6-E528799A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8" name="Рисунок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97cb90c1e49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963615"/>
            <a:ext cx="5772150" cy="3502269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865DB94C-FC3E-46DF-9F0B-77BF6EB0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77" y="1462087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Мой день</a:t>
            </a:r>
          </a:p>
        </p:txBody>
      </p:sp>
      <p:sp>
        <p:nvSpPr>
          <p:cNvPr id="7" name="Прямоугольник: скругленные углы 6">
            <a:extLst xmlns:a="http://schemas.openxmlformats.org/drawingml/2006/main">
              <a:ext uri="{FF2B5EF4-FFF2-40B4-BE49-F238E27FC236}">
                <a16:creationId xmlns:a16="http://schemas.microsoft.com/office/drawing/2014/main" id="{E745237E-8F6A-488E-9FCC-B48DE7DD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77" y="2014537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0BCDCF5-D5F7-40CE-9D1A-B43750F0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527" y="2090737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Расписание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302273BE-7D55-4C10-B097-6BB020EA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527" y="2319337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День и неделя, переход к конкретному занятию.</a:t>
            </a:r>
          </a:p>
        </p:txBody>
      </p:sp>
      <p:sp>
        <p:nvSpPr>
          <p:cNvPr id="10" name="Прямоугольник: скругленные углы 9">
            <a:extLst xmlns:a="http://schemas.openxmlformats.org/drawingml/2006/main">
              <a:ext uri="{FF2B5EF4-FFF2-40B4-BE49-F238E27FC236}">
                <a16:creationId xmlns:a16="http://schemas.microsoft.com/office/drawing/2014/main" id="{5061CA1F-2832-417F-9902-C74FCB3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77" y="2890837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59E28F5D-6F83-4F85-95E9-6A438B0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527" y="2967037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Изменения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170428B-10E2-48AF-A30B-5C5E8A1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527" y="3195637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Обновления расписания и уведомления о важных событиях.</a:t>
            </a:r>
          </a:p>
        </p:txBody>
      </p:sp>
      <p:sp>
        <p:nvSpPr>
          <p:cNvPr id="13" name="Прямоугольник: скругленные углы 12">
            <a:extLst xmlns:a="http://schemas.openxmlformats.org/drawingml/2006/main">
              <a:ext uri="{FF2B5EF4-FFF2-40B4-BE49-F238E27FC236}">
                <a16:creationId xmlns:a16="http://schemas.microsoft.com/office/drawing/2014/main" id="{DFE9ABD4-1163-4D8D-96A1-4C2A08DA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77" y="3767137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C97381F0-9724-4511-822B-8EA0AB21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527" y="3843337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Пространство пары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ECC606F5-1E43-4B97-BE03-B78240D9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527" y="4071937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963" lnSpcReduction="1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Преподаватель, аудитория, материалы и обсуждение в контексте занятия.</a:t>
            </a:r>
          </a:p>
        </p:txBody>
      </p:sp>
      <p:sp>
        <p:nvSpPr>
          <p:cNvPr id="16" name="Прямоугольник: скругленные углы 15">
            <a:extLst xmlns:a="http://schemas.openxmlformats.org/drawingml/2006/main">
              <a:ext uri="{FF2B5EF4-FFF2-40B4-BE49-F238E27FC236}">
                <a16:creationId xmlns:a16="http://schemas.microsoft.com/office/drawing/2014/main" id="{A2B18ECA-DF36-42F7-9B2E-56E869F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77" y="4643437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3E2A63B8-F09D-4548-A459-16069DC2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527" y="4719637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Учебный статус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034FD8DB-79CD-4674-A0EB-907B3102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527" y="4948237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Информация о посещаемости и причинах отсутствия.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346FE08-0146-4173-92AB-962D7935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77" y="5662612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Цель — чтобы студенту не приходилось собирать план дня по разным каналам.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39D03FB8-0E82-44A2-9525-A825993C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FC0D5"/>
                </a:solidFill>
                <a:latin typeface="Arial"/>
                <a:ea typeface="Arial"/>
                <a:cs typeface="Arial"/>
              </a:rPr>
              <a:t>Иллюстрация фирменного стиля, не экран личного кабинета</a:t>
            </a:r>
          </a:p>
        </p:txBody>
      </p:sp>
    </p:spTree>
    <p:extLst>
      <p:ext uri="{BB962C8B-B14F-4D97-AF65-F5344CB8AC3E}">
        <p14:creationId xmlns:p14="http://schemas.microsoft.com/office/powerpoint/2010/main" val="1973983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B5ED8CED-3364-47EC-8764-6FC4A174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23944068-8CB1-4C2F-AF3D-9CC488FA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7EE1867-5522-4EAE-BC85-8DE9E296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 преподавателя и вуза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EB93B7CA-EDCB-4659-B8CD-13FBA66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8629F49-92B3-44E4-9868-3BF9EB04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9D8E099-92ED-4B00-9585-2D045380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УНИВЕРСИТЕТ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C1302042-0D93-442C-A644-252776B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Ролевые кабинеты показывают только те инструменты, которые нужны пользователю.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C73FAA25-B849-4253-8982-1834B75E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53025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Функции описаны по текущей структуре продукта; подключение официальных систем вуза настраивается отдельно.</a:t>
            </a:r>
          </a:p>
        </p:txBody>
      </p:sp>
      <p:sp>
        <p:nvSpPr>
          <p:cNvPr id="13" name="Прямоугольник: скругленные углы 12">
            <a:extLst xmlns:a="http://schemas.openxmlformats.org/drawingml/2006/main">
              <a:ext uri="{FF2B5EF4-FFF2-40B4-BE49-F238E27FC236}">
                <a16:creationId xmlns:a16="http://schemas.microsoft.com/office/drawing/2014/main" id="{7282CE9F-A258-40BF-A83B-6BA2FFFB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5048250" cy="3190875"/>
          </a:xfrm>
          <a:prstGeom xmlns:a="http://schemas.openxmlformats.org/drawingml/2006/main" prst="roundRect">
            <a:avLst>
              <a:gd name="adj" fmla="val 35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94660"/>
            </a:solidFill>
          </a:ln>
        </p:spPr>
      </p:sp>
      <p:sp>
        <p:nvSpPr>
          <p:cNvPr id="14" name="Прямоугольник: скругленные углы 13">
            <a:extLst xmlns:a="http://schemas.openxmlformats.org/drawingml/2006/main">
              <a:ext uri="{FF2B5EF4-FFF2-40B4-BE49-F238E27FC236}">
                <a16:creationId xmlns:a16="http://schemas.microsoft.com/office/drawing/2014/main" id="{0A34179B-CB43-41FD-97BC-E3BE8EDC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143500" cy="3190875"/>
          </a:xfrm>
          <a:prstGeom xmlns:a="http://schemas.openxmlformats.org/drawingml/2006/main" prst="roundRect">
            <a:avLst>
              <a:gd name="adj" fmla="val 35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9466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FFCC9-85E5-4E25-A55E-5A32093A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ПРОСТРАНСТВО ЗАНЯТИЯ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BE5BE-5258-40CF-B17C-A70FBFA7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1DCEF"/>
                </a:solidFill>
                <a:latin typeface="Arial"/>
                <a:ea typeface="Arial"/>
                <a:cs typeface="Arial"/>
              </a:rPr>
              <a:t>Объявления, файлы и обсуждение собраны у конкретной пары.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77E2B-F59E-4DF4-9449-4B659F85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ПОДГОТОВКА К ЗАНЯТИЮ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75DC8-CCBF-4008-8700-A9C2CD0F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1DCEF"/>
                </a:solidFill>
                <a:latin typeface="Arial"/>
                <a:ea typeface="Arial"/>
                <a:cs typeface="Arial"/>
              </a:rPr>
              <a:t>Материалы и планирование связаны с нужной учебной группой.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DA161-37F0-469D-AB1C-D5370448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РАБОТА С ПОСЕЩАЕМОСТЬЮ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D8F8E-6EAC-4496-9570-EA9D5484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1DCEF"/>
                </a:solidFill>
                <a:latin typeface="Arial"/>
                <a:ea typeface="Arial"/>
                <a:cs typeface="Arial"/>
              </a:rPr>
              <a:t>Список отсутствующих и отметки доступны преподавателю.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AEC7B-ED62-4763-A07A-8D195E9A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БЫСТРАЯ QR-ОТМЕТКА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EA608-E6AB-4359-A555-7AD60C79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1DCEF"/>
                </a:solidFill>
                <a:latin typeface="Arial"/>
                <a:ea typeface="Arial"/>
                <a:cs typeface="Arial"/>
              </a:rPr>
              <a:t>Короткая QR-сессия — сценарий MVP для хакатона.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6AF03-2CED-4D21-92BD-16BF98FC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СТРУКТУРА ВУЗА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9281A-02F1-4A79-9355-78B0F676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Пользователи и учебные группы объединены в общей модели.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90EF1-DB9C-4646-93A7-3A313F37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РОЛИ И КАБИНЕТЫ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9233BB-99D3-44AF-96B7-1ABF7BCD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1DCEF"/>
                </a:solidFill>
                <a:latin typeface="Arial"/>
                <a:ea typeface="Arial"/>
                <a:cs typeface="Arial"/>
              </a:rPr>
              <a:t>Ролевой доступ открывает нужные инструменты каждому участнику.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FE2B9D-1CF2-4CA9-AAFF-BC386F91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РАСПИСАНИЕ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7E240-67C3-4ACA-BA94-3FD7F4C8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1DCEF"/>
                </a:solidFill>
                <a:latin typeface="Arial"/>
                <a:ea typeface="Arial"/>
                <a:cs typeface="Arial"/>
              </a:rPr>
              <a:t>Импорт и синхронизация дают единое расписание для работы.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780576-8FF5-439F-90C3-D56B13C8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КОНТРОЛЬ ИЗМЕНЕНИЙ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6CF3B-272F-408F-ACC4-C76F75F4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1DCEF"/>
                </a:solidFill>
                <a:latin typeface="Arial"/>
                <a:ea typeface="Arial"/>
                <a:cs typeface="Arial"/>
              </a:rPr>
              <a:t>Обновления расписания можно отслеживать и обрабатывать.</a:t>
            </a:r>
          </a:p>
        </p:txBody>
      </p:sp>
    </p:spTree>
    <p:extLst>
      <p:ext uri="{BB962C8B-B14F-4D97-AF65-F5344CB8AC3E}">
        <p14:creationId xmlns:p14="http://schemas.microsoft.com/office/powerpoint/2010/main" val="476590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FD533457-3EB9-46C3-A430-1AE35185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938CA87-A5E5-4FDC-B58B-D5C99D3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MAX MINI APP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17EA1DD-0B99-41D9-8CCD-4246E586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MAX открывает тот же сайт и кабинет пользователя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AA3D428-D149-41D1-85D2-93BE23D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7E84080C-507E-416B-937A-94193FF0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Кнопка «Открыть» запускает web-portal внутри MAX. Отдельная копия сайта не нужна.</a:t>
            </a:r>
          </a:p>
        </p:txBody>
      </p:sp>
      <p:sp>
        <p:nvSpPr>
          <p:cNvPr id="6" name="Прямоугольник: скругленные углы 5">
            <a:extLst xmlns:a="http://schemas.openxmlformats.org/drawingml/2006/main">
              <a:ext uri="{FF2B5EF4-FFF2-40B4-BE49-F238E27FC236}">
                <a16:creationId xmlns:a16="http://schemas.microsoft.com/office/drawing/2014/main" id="{9D047862-AF4F-4ED4-935C-77AAC95F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AF68801A-8E02-45BB-A467-3740B6A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5A69C989-99FD-434A-A59E-0F6EF6D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4F53FF8A-81DB-4D8D-B6F0-7BDAE9A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Пользователь входит по университетским логину и паролю и связывает аккаунт с MAX.</a:t>
            </a:r>
          </a:p>
        </p:txBody>
      </p:sp>
      <p:sp>
        <p:nvSpPr>
          <p:cNvPr id="10" name="Прямоугольник: скругленные углы 9">
            <a:extLst xmlns:a="http://schemas.openxmlformats.org/drawingml/2006/main">
              <a:ext uri="{FF2B5EF4-FFF2-40B4-BE49-F238E27FC236}">
                <a16:creationId xmlns:a16="http://schemas.microsoft.com/office/drawing/2014/main" id="{F58F5301-6ECA-41F6-9B9C-56FA8F5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A3BC1DDF-51E8-4033-A5E7-91CA4DD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F037086-E190-440B-A116-1E179237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Следующие запуски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62A7714D-89BC-41F3-BE36-0266FE2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Подписанные данные MAX проверяются сервером; пользователь входит без повторного ввода пароля.</a:t>
            </a:r>
          </a:p>
        </p:txBody>
      </p:sp>
      <p:sp>
        <p:nvSpPr>
          <p:cNvPr id="14" name="Прямоугольник: скругленные углы 13">
            <a:extLst xmlns:a="http://schemas.openxmlformats.org/drawingml/2006/main">
              <a:ext uri="{FF2B5EF4-FFF2-40B4-BE49-F238E27FC236}">
                <a16:creationId xmlns:a16="http://schemas.microsoft.com/office/drawing/2014/main" id="{1D530483-3000-4E4B-9223-1B538D3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7CDEC51C-E480-43CB-88F9-1F8DA54D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584ECE6A-3A39-4046-9BB9-7A84E060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Нужная роль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E4215A63-C0C3-4510-9534-73B435B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Сайт направляет студента, преподавателя или сотрудника в соответствующий кабинет.</a:t>
            </a:r>
          </a:p>
        </p:txBody>
      </p:sp>
      <p:sp>
        <p:nvSpPr>
          <p:cNvPr id="18" name="Прямоугольник: скругленные углы 17">
            <a:extLst xmlns:a="http://schemas.openxmlformats.org/drawingml/2006/main">
              <a:ext uri="{FF2B5EF4-FFF2-40B4-BE49-F238E27FC236}">
                <a16:creationId xmlns:a16="http://schemas.microsoft.com/office/drawing/2014/main" id="{C7824C3E-0B9E-4AFC-A339-2B80965C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A5D17682-3449-44DB-B58B-D3C91F5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2F18D45F-98B5-4A2D-878F-325AE449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Возможности MAX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F1A79EA0-FD22-4AB8-995D-4597A917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Запуск из бота, камера для QR, кнопка «Назад» и системная отправка расписания.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FC3A42B3-DBBD-4D65-84A6-30491C8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Сайт остаётся общим для браузера и Mini App; MAX добавляет быстрый вход и нативные возможности платформы.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0545461-7F00-4DF0-87B4-70CE8D62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0D5"/>
                </a:solidFill>
                <a:latin typeface="Arial"/>
                <a:ea typeface="Arial"/>
                <a:cs typeface="Arial"/>
              </a:rPr>
              <a:t>Публичный запуск и настройки кнопки бота проверяются после выкладки на сервер.</a:t>
            </a:r>
          </a:p>
        </p:txBody>
      </p:sp>
    </p:spTree>
    <p:extLst>
      <p:ext uri="{BB962C8B-B14F-4D97-AF65-F5344CB8AC3E}">
        <p14:creationId xmlns:p14="http://schemas.microsoft.com/office/powerpoint/2010/main" val="1211954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7894C23A-FD25-4CD3-A79C-691D238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НАПАРЕ · ОБРАЗОВАТЕЛЬНАЯ ПЛАТФОРМА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726DF8EC-495A-4C7F-87B7-42B6247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Приоритетный пользователь и проблема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94FB175-5BF0-41D0-BCE5-EE3DD70E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300E6242-1789-47B3-97ED-B5CD083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823752DA-8F1B-4863-BCA4-D934FA7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64BE78D1-0D6C-496B-99F3-EE0D9DCC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СТУДЕНТ ОЧНОЙ УЧЕБНОЙ ГРУППЫ СИБИТА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B8BF7DE4-9F7F-42ED-8EFC-F620066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19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Нужно подтвердить присутствие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конкретной паре и сразу понять,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отметка сохранена.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70DDB4B-8BD5-428F-B5A7-A61FA6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91101E84-4A7D-4F7D-9EAB-92284F0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известно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0B0DCB42-0F65-43DA-AC62-1C6C962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В NaPare уже есть ручной учёт посещаемости и серверные записи. В текущем процессе преподаватель отмечает группу, а студенту может потребоваться отдельно уточнять результат.</a:t>
            </a:r>
          </a:p>
        </p:txBody>
      </p:sp>
      <p:sp>
        <p:nvSpPr>
          <p:cNvPr id="11" name="Прямоугольник: скругленные углы 10">
            <a:extLst xmlns:a="http://schemas.openxmlformats.org/drawingml/2006/main">
              <a:ext uri="{FF2B5EF4-FFF2-40B4-BE49-F238E27FC236}">
                <a16:creationId xmlns:a16="http://schemas.microsoft.com/office/drawing/2014/main" id="{041EFC88-445F-4533-B21B-4C0C2AA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458450" cy="1057275"/>
          </a:xfrm>
          <a:prstGeom xmlns:a="http://schemas.openxmlformats.org/drawingml/2006/main" prst="roundRect">
            <a:avLst>
              <a:gd name="adj" fmla="val 1441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77030924-8B2C-454A-B07F-4B44E73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Доказательства и гипотезы разделены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10B9413-E653-41DB-B49C-9632AC8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Факт: учёт посещаемости есть в продукте. Гипотезы пилота: ручная перекличка отнимает время; подтверждение студенту нужно сразу. Интервью и замер базового времени ещё предстоит провести.</a:t>
            </a:r>
          </a:p>
        </p:txBody>
      </p:sp>
    </p:spTree>
    <p:extLst>
      <p:ext uri="{BB962C8B-B14F-4D97-AF65-F5344CB8AC3E}">
        <p14:creationId xmlns:p14="http://schemas.microsoft.com/office/powerpoint/2010/main" val="1105043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E59FFD06-9D35-446F-B08B-5DAB51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80C0A09-AD1D-480A-AD60-44AA15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Один законченный сценарий посещаемости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0B660307-E799-484C-8F86-52B4BEE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54B6B212-352B-4C4F-BAC4-AFFCE35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FCBB17F-9871-4365-9DBA-524220EF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BB63FA2-8DED-4257-909C-6E82F7D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549FDDB-30B4-4975-92F0-2E0C23CB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459C61C-5E2E-435F-9701-66A33AF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Выбирает свою пару и показывает QR.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A863A3CB-9CB9-4EFF-8FB7-4F648C1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7886841B-721D-495D-A230-68F39CB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452F45B0-E9F9-4B04-AB7A-D686BF6B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Открывает приложение кнопкой бота MAX.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DF3A0D0E-3A59-4F8B-9399-6ED97037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FA04192A-5659-42BC-97B0-FE2E0AC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Первый вход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5B6A2F8-97E1-46DE-B973-59ED37E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Связывает MAX с университетской учётной записью.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4E2CBEED-0D02-4832-B409-083A2A2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1521D531-C1D9-4709-AFDB-3B2D423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E553D452-5E93-490F-8C72-19EE9D4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Сканирует QR; сервер проверяет аккаунт, группу и срок.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35F3DC6D-F277-494E-B124-F8DCB41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73AA19EC-99C5-4CF2-BE3A-39286FE9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3B43C250-3FCB-4A29-81D6-24EF42E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Видит статус отметки и переходит к пространству пары.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928C08BA-597F-429E-BC45-05EB67A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BBCB6FEC-B225-40E6-8AC2-A13D9CC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264060EC-C1F5-42A7-963D-1110282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2DA49819-52FB-4F71-86D0-B2D1DB81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Прямоугольник: скругленные углы 24">
            <a:extLst xmlns:a="http://schemas.openxmlformats.org/drawingml/2006/main">
              <a:ext uri="{FF2B5EF4-FFF2-40B4-BE49-F238E27FC236}">
                <a16:creationId xmlns:a16="http://schemas.microsoft.com/office/drawing/2014/main" id="{411698BC-6E6C-42CE-8025-0FC3B6B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4584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AC8B5BCB-D90A-41B7-AAF9-50670BA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Защита от ошибок</a:t>
            </a:r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D33DC4F0-F525-4A3D-B163-93C6249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976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 действует 90 секунд · повторный запрос не создаёт вторую отметку · данные проверяются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1478356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539423EE-ED8C-4D99-B84F-99F94E3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2626B7BF-060C-44E4-BB25-84C8A6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Зачем здесь MAX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46D555B1-C915-424D-B1EB-F0FBF5A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7289B15-D902-49D8-ACA5-0B573F6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9F7CCF7-5AD6-4F4C-ADC6-F553722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DED77D14-56DB-4ECF-87FC-D1706DA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ТОТ ЖЕ САЙТ · ВНУТРИ БОТА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FD557B8-9CB8-4D55-979F-4CDCF3D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Кнопка «Открыть»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запускает web-portal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 окне MAX.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886B02B-1F36-449A-8D4A-9F1438F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Не отдельная копия кабинета: один адрес сайта обслуживает обычный браузер и MAX WebApp.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32F056AD-24C3-4AFC-A260-30D2AEE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859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6EB15B80-9F57-4B27-90F3-D950C27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02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Идентичность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436E8A90-D05C-4812-9DCD-BAF9411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 передаёт подписанные initData; backend проверяет подпись и срок.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FC836B44-B987-45EA-862C-5735DB9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A9F29FBC-BACE-4615-A727-575DD28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Связь с аккаунтом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10D69BCA-7834-4FA7-A4EB-C0C5414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479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Первый вход — логин и пароль вуза; далее MAX открывает кабинет связанного пользователя.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CF6E0AD5-ABFB-45EF-951C-8955230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3857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E90965F1-517D-47CC-AE69-928D6C5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Нативный результат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87351EE-C419-478A-BE75-3778A60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MAX сканирует QR. В MAX Web предусмотрен локальный QR-сканер камеры браузера с запросом разрешения.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D1B53BF8-4B29-4285-B635-54A5FC2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1490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C13D3667-BC8C-417F-8BD1-7210EA3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Ещё в MAX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CB83BB65-07FF-461E-9239-D236881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Нативная кнопка «Назад» и отправка расписания через MAX share sheet.</a:t>
            </a:r>
          </a:p>
        </p:txBody>
      </p:sp>
    </p:spTree>
    <p:extLst>
      <p:ext uri="{BB962C8B-B14F-4D97-AF65-F5344CB8AC3E}">
        <p14:creationId xmlns:p14="http://schemas.microsoft.com/office/powerpoint/2010/main" val="248664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C726ADE-923E-4BA4-8131-F31DD25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0C011FE9-5A19-4D53-AA4F-EF1373C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получает студент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05BA897-FEB6-4F51-8081-2AD57335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1E1AD74A-2EF3-457B-A06F-7C383544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D8710C4-54E4-47B1-BD13-7BBAEC6E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3D021662-7016-4670-9FBB-B834A94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E4483788-0EC9-480E-8CFE-D1D910C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48AE4FEF-4299-41A3-AE2E-C34E1D3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 сканирования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AE6AA377-4602-4212-A3DA-89899C8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открывается после нажатия. Отказ в разрешении объясняется; сканирование можно отменить.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D973D782-F42A-4E93-9AE5-415DF09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6C90328-5570-47A7-8995-54BE162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977C3A6-995B-400C-A314-B23A19A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Успешная отметка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17F2E08E-AA47-47BC-BA55-7603868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Сервис сообщает, что посещение отмечено, и предлагает открыть пространство этой пары.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8E8B1943-B236-4A16-9E07-92C0CA9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234F914A-5E49-442D-AC4B-766A9C15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AEBC14D1-361D-4101-9FED-3FDB8C7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QR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7BCBF0C-8A70-44C6-91CB-278CC33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Показывается, что отметка уже существует; вторая запись не создаётся.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6BBB0D8E-4C1B-42B8-8929-5C7C8F3C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FDDC1FAB-991C-462E-9CCA-D4F609D4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00DE61FE-EEDC-4D60-9709-3F7E9E68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A25C560C-A7DE-4A65-80BA-B7281C9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Неверный код, истёкший QR или чужая группа получают понятное сообщение и следующий шаг.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83850764-4D3D-4F9B-A85C-3D2AE4D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 принадлежит текущему студенту и его учебному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1230964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36C82D24-6F02-46CF-97B8-F82FB82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29F9E59-66F4-40A7-9D17-25BF8B6A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Состав решения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6683983-F7FE-49EA-B5D9-1C5D3169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E45B339-6866-4C84-ABE4-8043AC6E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3B32ECC-64A1-4A1D-B0FA-FB327DE3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Прямоугольник: скругленные углы 5">
            <a:extLst xmlns:a="http://schemas.openxmlformats.org/drawingml/2006/main">
              <a:ext uri="{FF2B5EF4-FFF2-40B4-BE49-F238E27FC236}">
                <a16:creationId xmlns:a16="http://schemas.microsoft.com/office/drawing/2014/main" id="{A2C3660F-E52C-4258-B25A-EB25F3E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725F0686-2463-497D-9A0D-AA13FE80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334758EB-1478-4D7C-B003-0ED5C2A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Бот и Mini App URL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749FF329-4987-4028-88EC-64659F3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Прямоугольник: скругленные углы 9">
            <a:extLst xmlns:a="http://schemas.openxmlformats.org/drawingml/2006/main">
              <a:ext uri="{FF2B5EF4-FFF2-40B4-BE49-F238E27FC236}">
                <a16:creationId xmlns:a16="http://schemas.microsoft.com/office/drawing/2014/main" id="{F4E1D9E8-8A1F-4B37-9CCF-61501A3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BA0A81F5-56DB-4805-8D58-1C24910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2186C96B-215C-4A80-AF6C-28AFF36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web-portal + ролевые страницы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C167BCE2-F1AC-44FE-B42F-DA78C990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Прямоугольник: скругленные углы 13">
            <a:extLst xmlns:a="http://schemas.openxmlformats.org/drawingml/2006/main">
              <a:ext uri="{FF2B5EF4-FFF2-40B4-BE49-F238E27FC236}">
                <a16:creationId xmlns:a16="http://schemas.microsoft.com/office/drawing/2014/main" id="{521757F4-9AFE-4EC8-A1BD-61AB236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724F993B-6BD1-405A-B7DB-7F9922A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27E5874-C09E-4EC5-A9AC-03FB157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NestJS: MAX auth, QR, роли и группа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E2863C27-0034-471B-AC0B-6BBB1F2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Прямоугольник: скругленные углы 17">
            <a:extLst xmlns:a="http://schemas.openxmlformats.org/drawingml/2006/main">
              <a:ext uri="{FF2B5EF4-FFF2-40B4-BE49-F238E27FC236}">
                <a16:creationId xmlns:a16="http://schemas.microsoft.com/office/drawing/2014/main" id="{6ADFF489-7883-42FB-945A-8571CEE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2010A666-424A-415E-85F5-F9E108F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5385AFAE-B0BA-4B5D-9A3A-5604B52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PostgreSQL: занятие и отметка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108DCD05-60E1-4C5C-834C-FCEE37D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Запуск приложения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0216E536-A7DA-4B19-B273-DAB9645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button → общий сайт → проверка initData → роль пользователя → нужный кабинет.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37EE8CB-6EA7-4B08-A10C-5E6EB29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Контейнеры проекта запускаются через Docker Compose. Переменные и внешние интеграции задаются через .env из безопасного шаблона.</a:t>
            </a:r>
          </a:p>
        </p:txBody>
      </p:sp>
    </p:spTree>
    <p:extLst>
      <p:ext uri="{BB962C8B-B14F-4D97-AF65-F5344CB8AC3E}">
        <p14:creationId xmlns:p14="http://schemas.microsoft.com/office/powerpoint/2010/main" val="9084669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6D7248AD-4872-41D1-8A4F-798E194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65087913-506D-48CB-8BAA-F06D921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Как измерить эффект пилота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614B0CA-47D6-44D9-9211-CB149ED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16B0795F-67F0-451C-85D5-71BC9AE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0D9662A-D429-468B-A1D4-281D6E7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226C1ED7-36A5-44E8-B207-63814CA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ГИПОТЕЗА, НЕ РЕЗУЛЬТАТ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0682494E-769B-4B7D-9293-6628BD9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863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Сократить медианное время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фиксации посещаемости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30% или больше.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278826A0-D5EA-43DB-AC56-55C2A17F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без увеличения числа исправлений преподавателем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3353F84B-3A3E-4DBD-8B55-2A5307A6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51C10DDA-D7F6-48D9-9B27-E008A51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FB12D0E-AC33-4566-A066-00FE8048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C906F86D-B0A5-4DA3-BF8E-BC91C3AE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9545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Ручная отметка группы против QR на нескольких парах.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B3EBBB10-68F3-4722-9B28-E471943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F75C9768-BBD7-4DC6-BE2D-C8F3F43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Успех с первого раза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4AFDE33F-7E29-4514-9B3D-D49CEEC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студентов, получивших подтверждение без повторной попытки.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A71ADFA2-397E-486F-B671-7757246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525DB445-3218-4F0B-93AA-3A5857D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Ошибки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2A435525-A523-46A6-B9F9-D613CD9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29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Дубли и исправления в журнале посещаемости.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E334721-C292-4F81-9C1A-6EA86BDC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95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1F8108A0-3074-4A66-AE95-7FC406D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9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вход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2D8A6F0E-C972-43D2-9F3D-2B17E6F8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9577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связанных аккаунтов, открывших кабинет в MAX без пароля.</a:t>
            </a:r>
          </a:p>
        </p:txBody>
      </p:sp>
    </p:spTree>
    <p:extLst>
      <p:ext uri="{BB962C8B-B14F-4D97-AF65-F5344CB8AC3E}">
        <p14:creationId xmlns:p14="http://schemas.microsoft.com/office/powerpoint/2010/main" val="395330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5DDAEE47-AE51-4E56-92F3-ED653C4C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9A721B4-CBAC-458E-90CE-7BB8EF4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Пилот и перенос в другой вуз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37E81A51-C0EB-4F8E-B48B-21C4DB7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CD37AF7-7C48-420C-BC3B-EB8108D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16A95B5-4FAD-434C-90A0-8AFCA04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F44129CD-F431-45C3-9E8B-D5582F7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ПЕРВЫЙ КОНТЕКСТ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01CAD292-5480-4D6E-8748-64E57DF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Одна очная группа СИБИТа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 один преподаватель.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057A6653-99B4-4A14-8696-C01033A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Подготовка аккаунтов · проверка группы · пара · MAX бот · HTTPS · наблюдение за несколькими занятиями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84E46EC5-B949-4661-96AB-ED11F495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62125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012D0995-9A65-4405-9080-F89DACF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907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переносим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E5CB0F2C-7AD5-408E-AC42-005FE97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Единый веб-клиент, проверку MAX-идентичности и QR-сценарий посещаемости.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9018BCAD-ABEF-45D4-B381-2880584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670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адаптируем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6EEA9CD-EA10-47D5-99B1-54131599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86150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Источник расписания, структуры групп и ролей, правила посещаемости, процессы и требования к данным.</a:t>
            </a:r>
          </a:p>
        </p:txBody>
      </p:sp>
      <p:sp>
        <p:nvSpPr>
          <p:cNvPr id="14" name="Прямоугольник: скругленные углы 13">
            <a:extLst xmlns:a="http://schemas.openxmlformats.org/drawingml/2006/main">
              <a:ext uri="{FF2B5EF4-FFF2-40B4-BE49-F238E27FC236}">
                <a16:creationId xmlns:a16="http://schemas.microsoft.com/office/drawing/2014/main" id="{028C06D9-D778-48E7-A620-891FE1D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4584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E72EDF4-50F5-4F6E-BAC5-C36C5C6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Следующий шаг после успешного пилота — повторить запуск на одном факультете и сравнить показатели.</a:t>
            </a:r>
          </a:p>
        </p:txBody>
      </p:sp>
    </p:spTree>
    <p:extLst>
      <p:ext uri="{BB962C8B-B14F-4D97-AF65-F5344CB8AC3E}">
        <p14:creationId xmlns:p14="http://schemas.microsoft.com/office/powerpoint/2010/main" val="16006405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C71C876A-B99F-4A4D-AD67-446D1B4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6574E61C-ADE6-410F-861F-EEA4703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Данные, безопасность и ограничения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235E49C-F54D-4F8F-A601-544938A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2890F918-8C64-48D6-A132-28667E0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30014C0E-6C31-405F-97B9-3990AC6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F2A35DBF-7F40-4CC4-AB1D-28CBF1A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Расписание в демо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FF0CBED6-430B-44FC-867F-5D8A01DB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Синтетическая тестовая пара source=hackathon-demo. Не является официальным импортом расписания.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276A7D8E-C588-47FA-B299-4D65813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59FF48B0-4673-499A-BCDF-2C54AC69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Учёт посещения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E475F61F-B688-47FC-9F68-4D622B7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Тестовая запись создаётся во время показа через API и не выдаётся за реальную статистику.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32F4C43F-2852-4C46-B471-8217A7C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4D80FAE-6A32-493B-BE4A-E33C94E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identity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1B2D7D4-357E-40BD-AEAB-8ABB568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initData проверяется на backend с bot token и сроком действия; пароли не сохраняются клиентом.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E4E3FAD5-F364-4EB9-8524-DAC427A8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F324B38-BC12-437A-A25A-9CDEBFA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1669C269-9771-45CD-BBC3-31257B4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577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QR действует 90 секунд; повторная отметка студента блокируется. Передача кода не доказывает, что студент присутствует.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45B1E651-21A6-4CD3-81CC-12FBBF3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B53CEFAF-E694-4D53-ACEA-94D1F296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После MVP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92D4A21E-E8FD-43B2-A16F-35DBB9C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864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Подключение официального расписания, расширение на другие вузы и пилотные исследования требуют отдельной настройки и подтверждения.</a:t>
            </a:r>
          </a:p>
        </p:txBody>
      </p:sp>
    </p:spTree>
    <p:extLst>
      <p:ext uri="{BB962C8B-B14F-4D97-AF65-F5344CB8AC3E}">
        <p14:creationId xmlns:p14="http://schemas.microsoft.com/office/powerpoint/2010/main" val="18778604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ACB6BA08-10EB-40F1-934C-03C1C6E2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CAB7E33F-39D4-476B-A5A3-646CB029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Источники и границы доказательств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41D0DDF5-AD57-4DEB-AD72-89BBEF34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50C2037C-FB31-46A4-A726-64F4808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69D74CA-8D49-47FB-83DD-4E33796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36F71F84-60B7-4720-A8D7-C32B408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ТРЕБОВАНИЯ КЕЙСА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A72DC482-E86D-4AFC-8294-A65285D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0497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«Образовательные решения», стр. 6–12 и 17–20: онлайн MVP, обязательные материалы, критерии оценки, As Is / To Be, пилот, данные и масштабирование.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2BCCC50C-B2A3-4881-8F7F-23E446F1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1265374F-A74D-498E-B799-4D964A6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ПЛАТФОРМА MAX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F98C3EF9-5D72-44D4-8F28-0F6F03F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76550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Bridge: https://dev.max.ru/docs/webapps/bridge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Проверка initData: https://dev.max.ru/docs/webapps/validation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Подключение Mini App к боту: https://dev.max.ru/docs/webapps/introduction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687E8B4D-BDA1-41DA-BAD1-936B461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F262B289-D291-4386-A293-4F73F217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КОД И ДЕМО-ДАННЫЕ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0FBC58EA-2120-4638-9673-1D51A0B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4812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README.md · docs/hackathon-demo.md · docs/clients/max-miniapp.md · apps/backend/src/auth · apps/backend/src/absences. Демонстрационная пара помечена как синтетическая; интервью и замер эффекта ещё не проводились.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507495D6-35C3-4BC3-8D6F-455E956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CF5A7F8E-1DBD-441A-B589-61A6470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Неиспользованные или модельные интеграции не выдаются за подключённые официальные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6488214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A4C3570C-4851-419B-BE2D-1263A51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BC049FD-F8F0-4A29-9317-B0A1BB0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ПЕРЕД ОТПРАВКОЙ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DF8331A-E8D6-495C-BE44-F4A123C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09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защиты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EDC42FF0-5D3A-4093-950C-8084748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4567B31-8218-402B-8D2D-40E1484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Опубликовать исходник и записать commit hash финальной версии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20FE8B06-2B81-4C52-8AB5-DA4013B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F401BDE8-D9DD-4B07-92E0-4ADFE43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FAAF7008-8851-433B-8526-6632C44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Подключить одобренного MAX-бота к https://napare.sano.ru/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34A1670E-EE77-4AF3-82CE-1D0D787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E060E103-2EB5-4327-AFC5-0CE1FAC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33B9A20B-E69B-4ECC-BE45-0ECC065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Развернуть текущую версию сайта, API и HTTPS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304910E-C27B-4ECC-9E80-00F3FF5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E8C9F262-8F47-4B99-943C-137F9962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EB3C9F77-6D9B-4399-AA33-70A91F0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Создать отдельные тестовые аккаунты и пару демо через защищённый скрипт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B92457A-1217-4798-AD43-ACFABEC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1468F432-6D86-4E60-9FE2-1873EF9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C4C6B7A-BAF9-4E9D-AE64-5835281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Передать проверяющим ссылку бота, логин/пароль и пошаговый путь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2DEA3D27-2AD1-4BD1-A540-51668D9A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324EA7C-B052-4688-83DB-62C9874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D7A87079-FD7A-4707-9B73-B234A758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Показать первый вход, повторный вход и одну QR-отметку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D75BBC14-14E6-46AE-B1B9-78FB7209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6860BF8F-8A6A-497F-890D-83114AF5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2E8"/>
                </a:solidFill>
                <a:latin typeface="Arial"/>
                <a:ea typeface="Arial"/>
                <a:cs typeface="Arial"/>
              </a:rPr>
              <a:t>До выполнения этих шагов не заявляй, что публичный запуск уже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10445269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Прямоугольник 36">
            <a:extLst xmlns:a="http://schemas.openxmlformats.org/drawingml/2006/main">
              <a:ext uri="{FF2B5EF4-FFF2-40B4-BE49-F238E27FC236}">
                <a16:creationId xmlns:a16="http://schemas.microsoft.com/office/drawing/2014/main" id="{A003381E-5596-4E36-A05E-096DF9D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0F6A190-9D07-47EC-A8E4-5611A36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ДЕМО-ДОСТУПЫ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78233C8-277B-418B-BA2E-5500D37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A752A82-7F36-4C02-BF43-601BF86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Откройте MAX-бота и войдите под ролью, которую показываете.</a:t>
            </a:r>
          </a:p>
        </p:txBody>
      </p:sp>
      <p:sp>
        <p:nvSpPr>
          <p:cNvPr id="5" name="Прямоугольник: скругленные углы 4">
            <a:extLst xmlns:a="http://schemas.openxmlformats.org/drawingml/2006/main">
              <a:ext uri="{FF2B5EF4-FFF2-40B4-BE49-F238E27FC236}">
                <a16:creationId xmlns:a16="http://schemas.microsoft.com/office/drawing/2014/main" id="{AFCD242B-63D5-4357-8DDA-DFA979A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Прямоугольник: скругленные углы 5">
            <a:extLst xmlns:a="http://schemas.openxmlformats.org/drawingml/2006/main">
              <a:ext uri="{FF2B5EF4-FFF2-40B4-BE49-F238E27FC236}">
                <a16:creationId xmlns:a16="http://schemas.microsoft.com/office/drawing/2014/main" id="{EE2F2622-4BEA-4D8F-8FBA-BFF1FDE3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6DE34089-046E-484C-A3C3-5ADA3DA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A6B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6BEA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640F104-287C-42D4-90E9-4DFB1C5D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956EB2A6-0F36-446B-9751-5D5F2C4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student@napare.sano.ru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698B43B-DF59-4A64-93E4-1D7F22C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99584152-7E3B-4191-9AD2-ACBD34E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14aa2d4e430c0fcb8d7eda82</a:t>
            </a:r>
          </a:p>
        </p:txBody>
      </p:sp>
      <p:sp>
        <p:nvSpPr>
          <p:cNvPr id="12" name="Прямоугольник: скругленные углы 11">
            <a:extLst xmlns:a="http://schemas.openxmlformats.org/drawingml/2006/main">
              <a:ext uri="{FF2B5EF4-FFF2-40B4-BE49-F238E27FC236}">
                <a16:creationId xmlns:a16="http://schemas.microsoft.com/office/drawing/2014/main" id="{1785BDC1-3D0A-4829-AD64-1D7AF7B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Прямоугольник: скругленные углы 12">
            <a:extLst xmlns:a="http://schemas.openxmlformats.org/drawingml/2006/main">
              <a:ext uri="{FF2B5EF4-FFF2-40B4-BE49-F238E27FC236}">
                <a16:creationId xmlns:a16="http://schemas.microsoft.com/office/drawing/2014/main" id="{8FA82DFA-1EF7-4FDC-BEE6-6510754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DF7F0"/>
          </a:solidFill>
          <a:ln xmlns:a="http://schemas.openxmlformats.org/drawingml/2006/main" w="0">
            <a:noFill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C8987C53-B8C0-40A7-91B4-53F30BFD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0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74760821-1CA2-4BA1-9AC3-9282A3B7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EC2FD9ED-2DC7-482F-B5C4-6BC7E2D5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teacher@napare.sano.ru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A797844-CF7A-4047-823E-9272A4C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0A284E31-16BE-4768-8C62-E504165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4802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a3a0232247c39c35aeb204a2</a:t>
            </a:r>
          </a:p>
        </p:txBody>
      </p:sp>
      <p:sp>
        <p:nvSpPr>
          <p:cNvPr id="19" name="Прямоугольник: скругленные углы 18">
            <a:extLst xmlns:a="http://schemas.openxmlformats.org/drawingml/2006/main">
              <a:ext uri="{FF2B5EF4-FFF2-40B4-BE49-F238E27FC236}">
                <a16:creationId xmlns:a16="http://schemas.microsoft.com/office/drawing/2014/main" id="{5AB52C9B-7BDA-47DF-BA46-A627F48C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Прямоугольник: скругленные углы 19">
            <a:extLst xmlns:a="http://schemas.openxmlformats.org/drawingml/2006/main">
              <a:ext uri="{FF2B5EF4-FFF2-40B4-BE49-F238E27FC236}">
                <a16:creationId xmlns:a16="http://schemas.microsoft.com/office/drawing/2014/main" id="{004EF7CC-2A14-4D9D-B591-2D4CD390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DC8594A2-B9BC-4E08-ABE7-B0A722CE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978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781B"/>
                </a:solidFill>
                <a:latin typeface="Arial"/>
                <a:ea typeface="Arial"/>
                <a:cs typeface="Arial"/>
              </a:rPr>
              <a:t>ДЕКАНАТ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1E83DD75-075E-413D-951F-7769866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26CBFC0-E21E-4491-A3DC-5A4FC74D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1480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deanery@napare.sano.ru</a:t>
            </a:r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27780BC-6837-4E55-A0A6-A4C3DB0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2EACF655-A91C-4689-A71F-95507F2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ffcd6f32257bb90a89228691</a:t>
            </a:r>
          </a:p>
        </p:txBody>
      </p:sp>
      <p:sp>
        <p:nvSpPr>
          <p:cNvPr id="26" name="Прямоугольник: скругленные углы 25">
            <a:extLst xmlns:a="http://schemas.openxmlformats.org/drawingml/2006/main">
              <a:ext uri="{FF2B5EF4-FFF2-40B4-BE49-F238E27FC236}">
                <a16:creationId xmlns:a16="http://schemas.microsoft.com/office/drawing/2014/main" id="{212A36DA-B28A-4AD3-A42E-C6D8B3F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Прямоугольник: скругленные углы 26">
            <a:extLst xmlns:a="http://schemas.openxmlformats.org/drawingml/2006/main">
              <a:ext uri="{FF2B5EF4-FFF2-40B4-BE49-F238E27FC236}">
                <a16:creationId xmlns:a16="http://schemas.microsoft.com/office/drawing/2014/main" id="{758414A7-A774-4D9C-8FB6-DB9E8DE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BE7FF"/>
          </a:solidFill>
          <a:ln xmlns:a="http://schemas.openxmlformats.org/drawingml/2006/main" w="0">
            <a:noFill/>
          </a:ln>
        </p:spPr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DBE8EA70-50DF-4F27-B813-59B1A5D2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715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5BC8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9C7C4E10-5677-4899-ACCC-784BF2F2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9ADA20E0-5336-45D7-BCCB-E061866E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8157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developer@napare.sano.ru</a:t>
            </a:r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939038FB-3484-4FBB-88C5-EC8E04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32" name="Прямоугольник 31">
            <a:extLst xmlns:a="http://schemas.openxmlformats.org/drawingml/2006/main">
              <a:ext uri="{FF2B5EF4-FFF2-40B4-BE49-F238E27FC236}">
                <a16:creationId xmlns:a16="http://schemas.microsoft.com/office/drawing/2014/main" id="{5CA49926-887E-40BA-ADA7-4536C80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8157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02ce79a3e6f5aae14cbf44a0</a:t>
            </a:r>
          </a:p>
        </p:txBody>
      </p:sp>
      <p:sp>
        <p:nvSpPr>
          <p:cNvPr id="33" name="Прямоугольник: скругленные углы 32">
            <a:extLst xmlns:a="http://schemas.openxmlformats.org/drawingml/2006/main">
              <a:ext uri="{FF2B5EF4-FFF2-40B4-BE49-F238E27FC236}">
                <a16:creationId xmlns:a16="http://schemas.microsoft.com/office/drawing/2014/main" id="{992518C6-598F-4D63-9AE0-52C0469B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3676650" cy="523875"/>
          </a:xfrm>
          <a:prstGeom xmlns:a="http://schemas.openxmlformats.org/drawingml/2006/main" prst="roundRect">
            <a:avLst>
              <a:gd name="adj" fmla="val 30909"/>
            </a:avLst>
          </a:prstGeom>
          <a:solidFill xmlns:a="http://schemas.openxmlformats.org/drawingml/2006/main">
            <a:srgbClr val="2768F5"/>
          </a:solidFill>
          <a:ln xmlns:a="http://schemas.openxmlformats.org/drawingml/2006/main" w="0">
            <a:noFill/>
          </a:ln>
        </p:spPr>
      </p:sp>
      <p:sp>
        <p:nvSpPr>
          <p:cNvPr id="34" name="Прямоугольник 33">
            <a:extLst xmlns:a="http://schemas.openxmlformats.org/drawingml/2006/main">
              <a:ext uri="{FF2B5EF4-FFF2-40B4-BE49-F238E27FC236}">
                <a16:creationId xmlns:a16="http://schemas.microsoft.com/office/drawing/2014/main" id="{0DD924CD-B719-42F8-AF11-0DAE5C7A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ae51a1c5b27e4f63"/>
              </a:rPr>
              <a:t>Открыть MAX-бота  ↗</a:t>
            </a:r>
          </a:p>
        </p:txBody>
      </p:sp>
      <p:sp>
        <p:nvSpPr>
          <p:cNvPr id="35" name="Прямоугольник 34">
            <a:extLst xmlns:a="http://schemas.openxmlformats.org/drawingml/2006/main">
              <a:ext uri="{FF2B5EF4-FFF2-40B4-BE49-F238E27FC236}">
                <a16:creationId xmlns:a16="http://schemas.microsoft.com/office/drawing/2014/main" id="{1E82C9C2-F09E-4CF6-ADCF-CF73CADE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197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D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DFF0"/>
                </a:solidFill>
                <a:latin typeface="Arial"/>
                <a:ea typeface="Arial"/>
                <a:cs typeface="Arial"/>
              </a:rPr>
              <a:t>https://max.ru/id550146543714_bot</a:t>
            </a:r>
          </a:p>
        </p:txBody>
      </p:sp>
      <p:sp>
        <p:nvSpPr>
          <p:cNvPr id="36" name="Прямоугольник 35">
            <a:extLst xmlns:a="http://schemas.openxmlformats.org/drawingml/2006/main">
              <a:ext uri="{FF2B5EF4-FFF2-40B4-BE49-F238E27FC236}">
                <a16:creationId xmlns:a16="http://schemas.microsoft.com/office/drawing/2014/main" id="{F7C06662-9A9C-4E68-B618-3DABE874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Для входа и привязки MAX используйте отдельные аккаунты студента и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208206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2026-09-29T14:31:38.3220000Z</dcterms:created>
  <dcterms:modified xsi:type="dcterms:W3CDTF">2026-09-29T14:31:38.3220000Z</dcterms:modified>
</coreProperties>
</file>