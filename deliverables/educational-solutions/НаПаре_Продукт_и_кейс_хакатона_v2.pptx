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2daa835e314e90" /><Relationship Type="http://schemas.openxmlformats.org/officeDocument/2006/relationships/extended-properties" Target="/docProps/app.xml" Id="R864e22ec2f3b4dea" /><Relationship Type="http://schemas.openxmlformats.org/officeDocument/2006/relationships/officeDocument" Target="/ppt/presentation.xml" Id="Rab82c22cc3f4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682c44192b4a6c"/>
  </p:sldMasterIdLst>
  <p:notesMasterIdLst>
    <p:notesMasterId xmlns:r="http://schemas.openxmlformats.org/officeDocument/2006/relationships" r:id="R9fefd42d4a3c49ab"/>
  </p:notesMasterIdLst>
  <p:sldIdLst>
    <p:sldId xmlns:r="http://schemas.openxmlformats.org/officeDocument/2006/relationships" id="256" r:id="R33a10791c6ac4011"/>
    <p:sldId xmlns:r="http://schemas.openxmlformats.org/officeDocument/2006/relationships" id="257" r:id="R09321ecfc7144116"/>
    <p:sldId xmlns:r="http://schemas.openxmlformats.org/officeDocument/2006/relationships" id="258" r:id="R6267435c92184d7e"/>
    <p:sldId xmlns:r="http://schemas.openxmlformats.org/officeDocument/2006/relationships" id="259" r:id="R784295d51d3a4e35"/>
    <p:sldId xmlns:r="http://schemas.openxmlformats.org/officeDocument/2006/relationships" id="260" r:id="Ra919ffa9964a4707"/>
    <p:sldId xmlns:r="http://schemas.openxmlformats.org/officeDocument/2006/relationships" id="261" r:id="Rdf9b54f91e384706"/>
    <p:sldId xmlns:r="http://schemas.openxmlformats.org/officeDocument/2006/relationships" id="262" r:id="R272ccd109cb54acc"/>
    <p:sldId xmlns:r="http://schemas.openxmlformats.org/officeDocument/2006/relationships" id="263" r:id="R06cbaa31b5814c0b"/>
    <p:sldId xmlns:r="http://schemas.openxmlformats.org/officeDocument/2006/relationships" id="264" r:id="R3131d691e3524fbe"/>
    <p:sldId xmlns:r="http://schemas.openxmlformats.org/officeDocument/2006/relationships" id="265" r:id="R3c5eba3cd9854a7b"/>
    <p:sldId xmlns:r="http://schemas.openxmlformats.org/officeDocument/2006/relationships" id="266" r:id="Rb7f3b652b6d34a3b"/>
    <p:sldId xmlns:r="http://schemas.openxmlformats.org/officeDocument/2006/relationships" id="267" r:id="R0c08116e93054194"/>
    <p:sldId xmlns:r="http://schemas.openxmlformats.org/officeDocument/2006/relationships" id="268" r:id="Re980ddf5b79e47c6"/>
    <p:sldId xmlns:r="http://schemas.openxmlformats.org/officeDocument/2006/relationships" id="269" r:id="R66351b11f94944d7"/>
    <p:sldId xmlns:r="http://schemas.openxmlformats.org/officeDocument/2006/relationships" id="270" r:id="R4c31da1b083f4a6c"/>
    <p:sldId xmlns:r="http://schemas.openxmlformats.org/officeDocument/2006/relationships" id="271" r:id="Rd856717cb6f14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f608057ee6475b" /><Relationship Type="http://schemas.openxmlformats.org/officeDocument/2006/relationships/slideMaster" Target="/ppt/slideMasters/slideMaster1.xml" Id="Re8682c44192b4a6c" /><Relationship Type="http://schemas.openxmlformats.org/officeDocument/2006/relationships/notesMaster" Target="/ppt/notesMasters/notesMaster1.xml" Id="R9fefd42d4a3c49ab" /><Relationship Type="http://schemas.openxmlformats.org/officeDocument/2006/relationships/presProps" Target="/ppt/presProps.xml" Id="R5dd609d3b4794600" /><Relationship Type="http://schemas.openxmlformats.org/officeDocument/2006/relationships/tableStyles" Target="/ppt/tableStyles.xml" Id="R4e44c43c3e614e26" /><Relationship Type="http://schemas.openxmlformats.org/officeDocument/2006/relationships/slide" Target="/ppt/slides/slide1.xml" Id="R33a10791c6ac4011" /><Relationship Type="http://schemas.openxmlformats.org/officeDocument/2006/relationships/slide" Target="/ppt/slides/slide2.xml" Id="R09321ecfc7144116" /><Relationship Type="http://schemas.openxmlformats.org/officeDocument/2006/relationships/slide" Target="/ppt/slides/slide3.xml" Id="R6267435c92184d7e" /><Relationship Type="http://schemas.openxmlformats.org/officeDocument/2006/relationships/slide" Target="/ppt/slides/slide4.xml" Id="R784295d51d3a4e35" /><Relationship Type="http://schemas.openxmlformats.org/officeDocument/2006/relationships/slide" Target="/ppt/slides/slide5.xml" Id="Ra919ffa9964a4707" /><Relationship Type="http://schemas.openxmlformats.org/officeDocument/2006/relationships/slide" Target="/ppt/slides/slide6.xml" Id="Rdf9b54f91e384706" /><Relationship Type="http://schemas.openxmlformats.org/officeDocument/2006/relationships/slide" Target="/ppt/slides/slide7.xml" Id="R272ccd109cb54acc" /><Relationship Type="http://schemas.openxmlformats.org/officeDocument/2006/relationships/slide" Target="/ppt/slides/slide8.xml" Id="R06cbaa31b5814c0b" /><Relationship Type="http://schemas.openxmlformats.org/officeDocument/2006/relationships/slide" Target="/ppt/slides/slide9.xml" Id="R3131d691e3524fbe" /><Relationship Type="http://schemas.openxmlformats.org/officeDocument/2006/relationships/slide" Target="/ppt/slides/slide10.xml" Id="R3c5eba3cd9854a7b" /><Relationship Type="http://schemas.openxmlformats.org/officeDocument/2006/relationships/slide" Target="/ppt/slides/slide11.xml" Id="Rb7f3b652b6d34a3b" /><Relationship Type="http://schemas.openxmlformats.org/officeDocument/2006/relationships/slide" Target="/ppt/slides/slide12.xml" Id="R0c08116e93054194" /><Relationship Type="http://schemas.openxmlformats.org/officeDocument/2006/relationships/slide" Target="/ppt/slides/slide13.xml" Id="Re980ddf5b79e47c6" /><Relationship Type="http://schemas.openxmlformats.org/officeDocument/2006/relationships/slide" Target="/ppt/slides/slide14.xml" Id="R66351b11f94944d7" /><Relationship Type="http://schemas.openxmlformats.org/officeDocument/2006/relationships/slide" Target="/ppt/slides/slide15.xml" Id="R4c31da1b083f4a6c" /><Relationship Type="http://schemas.openxmlformats.org/officeDocument/2006/relationships/slide" Target="/ppt/slides/slide16.xml" Id="Rd856717cb6f14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5c43e1d009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733268e3d543b8" /><Relationship Type="http://schemas.openxmlformats.org/officeDocument/2006/relationships/notesMaster" Target="/ppt/notesMasters/notesMaster1.xml" Id="R8cb01cf7e43347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2ab658d35d4f6c" /><Relationship Type="http://schemas.openxmlformats.org/officeDocument/2006/relationships/notesMaster" Target="/ppt/notesMasters/notesMaster1.xml" Id="Rc863aca39f894a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7d74e0e725451d" /><Relationship Type="http://schemas.openxmlformats.org/officeDocument/2006/relationships/notesMaster" Target="/ppt/notesMasters/notesMaster1.xml" Id="R3e636471bde247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909ba1fcd4309" /><Relationship Type="http://schemas.openxmlformats.org/officeDocument/2006/relationships/notesMaster" Target="/ppt/notesMasters/notesMaster1.xml" Id="Rf90c930c54994b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a81f0225af43bc" /><Relationship Type="http://schemas.openxmlformats.org/officeDocument/2006/relationships/notesMaster" Target="/ppt/notesMasters/notesMaster1.xml" Id="Rc10c6004070040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c4e0c9e9b2456a" /><Relationship Type="http://schemas.openxmlformats.org/officeDocument/2006/relationships/notesMaster" Target="/ppt/notesMasters/notesMaster1.xml" Id="R2a8b827ce52642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5860529e34ada" /><Relationship Type="http://schemas.openxmlformats.org/officeDocument/2006/relationships/notesMaster" Target="/ppt/notesMasters/notesMaster1.xml" Id="R04a650dc439e4b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5bc6cc019b4ff4" /><Relationship Type="http://schemas.openxmlformats.org/officeDocument/2006/relationships/notesMaster" Target="/ppt/notesMasters/notesMaster1.xml" Id="R4aae183f1feb4d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2a6bc6cbf04a55" /><Relationship Type="http://schemas.openxmlformats.org/officeDocument/2006/relationships/notesMaster" Target="/ppt/notesMasters/notesMaster1.xml" Id="R6c4046a1ad0f4c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23c2a04d2f4836" /><Relationship Type="http://schemas.openxmlformats.org/officeDocument/2006/relationships/notesMaster" Target="/ppt/notesMasters/notesMaster1.xml" Id="Rc223e325213b46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8b7fa974994018" /><Relationship Type="http://schemas.openxmlformats.org/officeDocument/2006/relationships/notesMaster" Target="/ppt/notesMasters/notesMaster1.xml" Id="Rd1730ab9d4a347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d26d7f1ea3485f" /><Relationship Type="http://schemas.openxmlformats.org/officeDocument/2006/relationships/notesMaster" Target="/ppt/notesMasters/notesMaster1.xml" Id="R56c41a9c915740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dfd1b6e16c4746" /><Relationship Type="http://schemas.openxmlformats.org/officeDocument/2006/relationships/notesMaster" Target="/ppt/notesMasters/notesMaster1.xml" Id="R784d83fd3ecd49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6e18cad19047e0" /><Relationship Type="http://schemas.openxmlformats.org/officeDocument/2006/relationships/notesMaster" Target="/ppt/notesMasters/notesMaster1.xml" Id="R748bf1bb510c47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53121ca5a44bcd" /><Relationship Type="http://schemas.openxmlformats.org/officeDocument/2006/relationships/notesMaster" Target="/ppt/notesMasters/notesMaster1.xml" Id="Rf093eef434204d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6e9be0d5a84b11" /><Relationship Type="http://schemas.openxmlformats.org/officeDocument/2006/relationships/notesMaster" Target="/ppt/notesMasters/notesMaster1.xml" Id="Rda2e90b2f574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Перед отправкой заявки заполнить ссылку одобренного бота, URL доступной версии, commit hash, API base, пароли тестовых учёток и MAX_BOT_TOKEN согласно формату кейса. Приватную карточку для проверяющих не коммитить в репозиторий и передавать установленным организаторами защищённым способом. Источник обязательных технических требований: пользовательский PDF «Образовательные решения», стр. 9–10.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Описание фактов и пробелов в доказательствах взято из docs/product-roadmap-vcourse-comparison.md. Не выдавать гипотезы про длительность переклички за результаты исследования. Рекомендации по узкой аудитории и разделению фактов/гипотез: PDF «Образовательные решения», стр.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и правила QR описаны в docs/hackathon-demo.md и приложении: QR TTL 90 секунд; сервер ограничивает сессию занятием, группой и ролью; повторная отметка идемпотентна.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Сайт использует официальный MAX Bridge: https://dev.max.ru/docs/webapps/bridge. Управление ботом и подключение к нему готового мини-приложения описаны на https://dev.max.ru/docs/chatbots/bots-create/manage и https://dev.max.ru/docs/webapps/introduction. Платформенная привязка бота к URL задаётся владельцем в MAX для бизнеса; репозиторий не может настроить её сам.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Тексты состояний описывают реализованную механику интерфейса и backend. Не заявлять отсутствие любых ошибок; допустимый результат проверяющего — корректная реакция на разные состояния сценария.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соответствует docs/clients/max-miniapp.md, docs/architecture/system-overview.md и docker-compose.prod.yml. MAX bot URL и авторизационный token создаются/настраиваются на платформе MAX; секрет хранится в backend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30% и способ замера — гипотеза из docs/product-roadmap-vcourse-comparison.md и docs/hackathon-demo.md. Ни замеры, ни пилотные результаты не заявляются как завершённые.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пилота и переменные масштабирования из docs/hackathon-demo.md, docs/product-roadmap-vcourse-comparison.md и рекомендаций PDF «Образовательные решения», стр. 19–20.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и ограничения данных описаны в docs/hackathon-demo.md. Рекомендации кейса о первоисточниках, актуальности и разделении факта/модели: PDF «Образовательные решения», стр.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требует показывать источники информации и различать факты и гипотезы. Ссылки на MAX — официальная документация разработчиков. Архитектура и механики подтверждаются исходниками перечисленных модулей; метрика и пользовательский эффект остаются гипотезой до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выпуска и ограничения проверки см. docs/hackathon-demo.md и DEPLOY.md. Текущая презентация специально не содержит паролей и рабочего MAX_BOT_TOKEN.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Тестовые логины и пароли предоставлены владельцем проекта для демонстрации. Ссылка ведёт на MAX-бота: https://max.ru/id550146543714_bot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60538a774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75d94c1c824965" /><Relationship Type="http://schemas.openxmlformats.org/officeDocument/2006/relationships/slideLayout" Target="/ppt/slideLayouts/slideLayout1.xml" Id="R6ac6ee279b414d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c6ee279b414d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c964210148f1" /><Relationship Type="http://schemas.openxmlformats.org/officeDocument/2006/relationships/hyperlink" Target="https://max.ru/id550146543714_bot" TargetMode="External" Id="Re4006c775aba41a5" /><Relationship Type="http://schemas.openxmlformats.org/officeDocument/2006/relationships/hyperlink" Target="https://github.com/DeminLab/NaPare" TargetMode="External" Id="Rf0c6ec8259e94be3" /><Relationship Type="http://schemas.openxmlformats.org/officeDocument/2006/relationships/image" Target="/ppt/media/image.png" Id="Ra4968f1fbe6d4f66" /><Relationship Type="http://schemas.openxmlformats.org/officeDocument/2006/relationships/notesSlide" Target="/ppt/notesSlides/notesSlide1.xml" Id="Ra9276083f13d4b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d823bec144ce8" /><Relationship Type="http://schemas.openxmlformats.org/officeDocument/2006/relationships/image" Target="/ppt/media/image.jpeg" Id="Ra7211078417644dc" /><Relationship Type="http://schemas.openxmlformats.org/officeDocument/2006/relationships/notesSlide" Target="/ppt/notesSlides/notesSlide2.xml" Id="R145a53f5a50549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34cc4ddeb44b8" /><Relationship Type="http://schemas.openxmlformats.org/officeDocument/2006/relationships/image" Target="/ppt/media/image2.jpeg" Id="Rc17eb57164814b03" /><Relationship Type="http://schemas.openxmlformats.org/officeDocument/2006/relationships/notesSlide" Target="/ppt/notesSlides/notesSlide3.xml" Id="Rdd78728dbebb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b38568b0b4296" /><Relationship Type="http://schemas.openxmlformats.org/officeDocument/2006/relationships/image" Target="/ppt/media/image2.png" Id="Rafa7bab67a8144c1" /><Relationship Type="http://schemas.openxmlformats.org/officeDocument/2006/relationships/notesSlide" Target="/ppt/notesSlides/notesSlide4.xml" Id="R834f43fd4a0c4e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b02f5dee41c3" /><Relationship Type="http://schemas.openxmlformats.org/officeDocument/2006/relationships/notesSlide" Target="/ppt/notesSlides/notesSlide5.xml" Id="R738048365e19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017f4e31a45a0" /><Relationship Type="http://schemas.openxmlformats.org/officeDocument/2006/relationships/notesSlide" Target="/ppt/notesSlides/notesSlide6.xml" Id="Ra5fada443b1142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e0d0cca174f94" /><Relationship Type="http://schemas.openxmlformats.org/officeDocument/2006/relationships/notesSlide" Target="/ppt/notesSlides/notesSlide7.xml" Id="Rac6bd42b16a44c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e7b0bf3404ff8" /><Relationship Type="http://schemas.openxmlformats.org/officeDocument/2006/relationships/notesSlide" Target="/ppt/notesSlides/notesSlide8.xml" Id="Ra6b3e5f0fbb6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bb7bac05147d8" /><Relationship Type="http://schemas.openxmlformats.org/officeDocument/2006/relationships/notesSlide" Target="/ppt/notesSlides/notesSlide9.xml" Id="Rc5b7a87b6cb54b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7fd13fb294539" /><Relationship Type="http://schemas.openxmlformats.org/officeDocument/2006/relationships/notesSlide" Target="/ppt/notesSlides/notesSlide10.xml" Id="Rda5e3c37f0a94b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8dcff6b914309" /><Relationship Type="http://schemas.openxmlformats.org/officeDocument/2006/relationships/notesSlide" Target="/ppt/notesSlides/notesSlide11.xml" Id="R21134c8345d646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4ab4ff6a5439c" /><Relationship Type="http://schemas.openxmlformats.org/officeDocument/2006/relationships/notesSlide" Target="/ppt/notesSlides/notesSlide12.xml" Id="Re2f04ca099db4d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2059b1e3548ee" /><Relationship Type="http://schemas.openxmlformats.org/officeDocument/2006/relationships/notesSlide" Target="/ppt/notesSlides/notesSlide13.xml" Id="Rd8fe7eeb429d43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891328f7b34853" /><Relationship Type="http://schemas.openxmlformats.org/officeDocument/2006/relationships/notesSlide" Target="/ppt/notesSlides/notesSlide14.xml" Id="Ra4e7606f6b9f47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3fbb073014472" /><Relationship Type="http://schemas.openxmlformats.org/officeDocument/2006/relationships/notesSlide" Target="/ppt/notesSlides/notesSlide15.xml" Id="Rd96fc3576d0b43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5b116a6334c30" /><Relationship Type="http://schemas.openxmlformats.org/officeDocument/2006/relationships/hyperlink" Target="https://max.ru/id550146543714_bot" TargetMode="External" Id="Rfb34cc3f08fd47cf" /><Relationship Type="http://schemas.openxmlformats.org/officeDocument/2006/relationships/notesSlide" Target="/ppt/notesSlides/notesSlide16.xml" Id="R5cbdf8ef251c42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935560-F12D-4C92-9B22-44DB64D0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534F-F2FF-4DF6-B9C5-38E78949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ТЕХНИЧЕСКАЯ КАРТОЧКА · КОМАНДА ПРОЕКТА: НАПАРЕ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0648A-E48A-4A6A-AF5F-763F1BBF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B3CC7-52A4-4CA4-A0C2-8D443113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Подтверждение посещения пары</a:t>
            </a:r>
          </a:p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внутри MAX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911E-6496-47E0-ABD9-BBC2D36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NaPare: образовательная платформа и MVP-кейс хакатона «Образовательные решения»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5B27-977E-4452-A8F3-674C908A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E850B-C1F0-4D18-A7F1-9B52802E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БОТ 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239D1-6BF1-477A-A8B2-86D232CB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e4006c775aba41a5"/>
              </a:rPr>
              <a:t>https://max.ru/id550146543714_bot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5FA3-5ECA-4096-A2AD-F7720AB6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E3E7-F253-4490-BFD1-0B1C35CF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1470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ВЕБ-ПРИЛОЖЕНИЕ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EB752-F9D9-4AF2-9E44-E05405C6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/max/ на HTTPS-домене после выкладки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97BB3-1E69-4F9B-BA17-90C7C70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91E17-F422-488F-95E8-A75FE6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E6BEB-8BA2-49D0-803C-72310DD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f0c6ec8259e94be3"/>
              </a:rPr>
              <a:t>https://github.com/DeminLab/NaPare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88516-F1D8-4138-8796-15C750D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F4480-2E3A-4766-A6BA-06118BB4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COMMIT ФИНАЛЬНОЙ ВЕРСИИ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D364B-4799-4BA1-8636-20D93A18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Публичный запуск проверяется после выкладки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308-066C-4307-8947-3540E1A9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006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D1866-B195-4D02-8C2A-6BB4A817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 И SWAGGER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E0968-140E-4187-BE5F-6BD099B0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/api/v1/docs · после запуска стенда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06810-FBFF-4823-B4A5-199027A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263C3-35E8-4002-8E5E-3FCE9BD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00650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ТЕСТОВЫЕ РОЛИ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5189D-031D-459F-93AC-70B717E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387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 с логинами и паролями указаны на последнем слайде.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D520D-9E7F-4044-955C-37FCE21E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81B67-F7A1-498F-97CC-0F632695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D7E2E8"/>
                </a:solidFill>
                <a:latin typeface="Arial"/>
                <a:ea typeface="Arial"/>
                <a:cs typeface="Arial"/>
              </a:rPr>
              <a:t>Исходники подготовлены; публичный запуск проверяется после выкладки. MAX_BOT_TOKEN задаётся только в окружении backend.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68f1fbe6d4f66"/>
          <a:srcRect xmlns:a="http://schemas.openxmlformats.org/drawingml/2006/main" l="0" t="6102" r="0" b="6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19100"/>
            <a:ext cx="323850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E91CC-1137-45D2-B472-E6C3E717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D1DCEF"/>
                </a:solidFill>
                <a:latin typeface="Arial"/>
                <a:ea typeface="Arial"/>
                <a:cs typeface="Arial"/>
              </a:rPr>
              <a:t>Иллюстрация кампусной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837136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2A713C-EACB-4566-A7DF-F30F33F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BA1EB-C97C-4099-93E5-1C2BBAB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F2011-9CB4-4B15-9507-5255D42D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НаПаре — кабинет всего учебного процесса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DFE56-AB54-4E31-9413-BC0FF41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CDEDF-E969-4EC5-BF92-30E1BCDB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Один портал связывает учебный день, работу преподавателя и процессы вуза.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00C28-8A8C-4403-906C-A2A6D2C8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384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Студенту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66F86-CC91-46BA-9BCE-A090D69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Расписание, изменения, материалы и пространство пары.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9F2F6-C419-4546-8E40-77ECB801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0BB58-F4FF-4B70-B7B7-79794EAF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62425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Занятия, объявления, подготовка и работа с группой.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88AB7-82ED-4503-A06C-0876E07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Вузу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1C299-8BEE-4F62-B6E4-594FA51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72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Пользователи, роли, структура и управление расписанием.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11078417644dc"/>
          <a:srcRect xmlns:a="http://schemas.openxmlformats.org/drawingml/2006/main" l="21368" t="0" r="213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1638300"/>
            <a:ext cx="5381625" cy="3524250"/>
          </a:xfrm>
          <a:prstGeom xmlns:a="http://schemas.openxmlformats.org/drawingml/2006/main" prst="roundRect">
            <a:avLst>
              <a:gd name="adj" fmla="val 378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B3EF5-D1B6-48DD-9118-4A7C95F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435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Один аккаунт и единая логика доступа для разных ролей.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812EF-91C7-49AE-8E4E-265CC9D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8650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Визуальная концепция продукта, не скриншот действующего интерфейса</a:t>
            </a:r>
          </a:p>
        </p:txBody>
      </p:sp>
    </p:spTree>
    <p:extLst>
      <p:ext uri="{BB962C8B-B14F-4D97-AF65-F5344CB8AC3E}">
        <p14:creationId xmlns:p14="http://schemas.microsoft.com/office/powerpoint/2010/main" val="1185414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5682-7AC1-4652-846E-A20332D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5DBB4-0207-4F79-8147-FD760A78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BCC98-4862-4F30-A99D-552B16F7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Студент: от расписания к нужной паре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981B6-5FE4-4493-A9A6-E528799A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eb57164814b03"/>
          <a:srcRect xmlns:a="http://schemas.openxmlformats.org/drawingml/2006/main" l="11255" t="0" r="112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581150"/>
            <a:ext cx="47625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DB94C-FC3E-46DF-9F0B-77BF6EB0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144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Мой день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5237E-8F6A-488E-9FCC-B48DE7D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669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CDCF5-D5F7-40CE-9D1A-B43750F0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Расписание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273BE-7D55-4C10-B097-6BB020EA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717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День и неделя, переход к конкретному занятию.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CA1F-2832-417F-9902-C74FCB3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432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28F5D-6F83-4F85-95E9-6A438B0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194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Изменения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0428B-10E2-48AF-A30B-5C5E8A1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480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Обновления расписания и уведомления о важных событиях.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9ABD4-1163-4D8D-96A1-4C2A08D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95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81F0-9724-4511-822B-8EA0AB21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957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Пространство пары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606F5-1E43-4B97-BE03-B78240D9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243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963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Преподаватель, аудитория, материалы и обсуждение в контексте занятия.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18ECA-DF36-42F7-9B2E-56E869F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95825"/>
            <a:ext cx="5619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A63B8-F09D-4548-A459-16069DC2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72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Учебный статус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FD8DB-79CD-4674-A0EB-907B3102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00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Информация о посещаемости и причинах отсутствия.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6FE08-0146-4173-92AB-962D7935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Цель — чтобы студенту не приходилось собирать план дня по разным каналам.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03FB8-0E82-44A2-9525-A825993C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AFC0D5"/>
                </a:solidFill>
                <a:latin typeface="Arial"/>
                <a:ea typeface="Arial"/>
                <a:cs typeface="Arial"/>
              </a:rPr>
              <a:t>Иллюстрация фирменного стиля, не экран личного кабинета</a:t>
            </a:r>
          </a:p>
        </p:txBody>
      </p:sp>
    </p:spTree>
    <p:extLst>
      <p:ext uri="{BB962C8B-B14F-4D97-AF65-F5344CB8AC3E}">
        <p14:creationId xmlns:p14="http://schemas.microsoft.com/office/powerpoint/2010/main" val="1973983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D8CED-3364-47EC-8764-6FC4A174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44068-8CB1-4C2F-AF3D-9CC488FA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ФУНКЦИОНАЛ ПЛАТФОРМЫ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E1867-5522-4EAE-BC85-8DE9E29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Преподаватель и вуз: управление учебной работой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3B7CA-EDCB-4659-B8CD-13FBA66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29F49-92B3-44E4-9868-3BF9EB0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4B77C-D432-4916-91F0-EFB4B99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90725"/>
            <a:ext cx="5048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Объявления и материалы для группы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Подготовка к занятию и список отсутствующих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Обсуждение в пространстве пары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Отметка посещаемости, в том числе QR в 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8E099-92ED-4B00-9585-2D045380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УНИВЕРСИТЕТ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A7A0A-46FC-4050-A559-9FD7409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90725"/>
            <a:ext cx="514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Структура вуза, группы и пользователи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Назначение ролей и доступов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Загрузка и синхронизация расписания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Управление изменениями расписания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7bab67a8144c1"/>
          <a:srcRect xmlns:a="http://schemas.openxmlformats.org/drawingml/2006/main" l="0" t="16400" r="0" b="16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4457700"/>
            <a:ext cx="2381250" cy="16002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02042-0D93-442C-A644-252776B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Ролевые кабинеты показывают только те инструменты, которые нужны пользователю.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FAA25-B849-4253-8982-1834B75E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53025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Функции описаны по текущей структуре продукта; подключение официальных систем вуза настраивается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476590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33457-3EB9-46C3-A430-1AE3518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8CA87-A5E5-4FDC-B58B-D5C99D3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85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MAX MINI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EA1DD-0B99-41D9-8CCD-4246E586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MAX открывает тот же сайт и кабинет пользователя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3D428-D149-41D1-85D2-93BE23D9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91A4B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1A4B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4080C-507E-416B-937A-94193FF0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Кнопка «Открыть» запускает web-portal внутри MAX. Отдельная копия сайта не нужна.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47862-AF4F-4ED4-935C-77AAC95F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801A-8E02-45BB-A467-3740B6A4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9C989-99FD-434A-A59E-0F6EF6D2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3FF8A-81DB-4D8D-B6F0-7BDAE9A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Пользователь входит по университетским логину и паролю и связывает аккаунт с MAX.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5301-6ECA-41F6-9B9C-56FA8F5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C1DDF-51E8-4033-A5E7-91CA4DD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37086-E190-440B-A116-1E17923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Следующие запуски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7714D-89BC-41F3-BE36-0266FE2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Подписанные данные MAX проверяются сервером; пользователь входит без повторного ввода пароля.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30483-3000-4E4B-9223-1B538D3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EC51C-E480-43CB-88F9-1F8DA54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ECE6A-3A39-4046-9BB9-7A84E060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Нужная 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15A63-C0C3-4510-9534-73B435B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Сайт направляет студента, преподавателя или сотрудника в соответствующий кабинет.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24C3E-0B9E-4AFC-A339-2B80965C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71725"/>
            <a:ext cx="2533650" cy="2362200"/>
          </a:xfrm>
          <a:prstGeom xmlns:a="http://schemas.openxmlformats.org/drawingml/2006/main" prst="roundRect">
            <a:avLst>
              <a:gd name="adj" fmla="val 5645"/>
            </a:avLst>
          </a:prstGeom>
          <a:solidFill xmlns:a="http://schemas.openxmlformats.org/drawingml/2006/main">
            <a:srgbClr val="1B344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17682-3449-44DB-B58B-D3C91F5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8D45F-98B5-4A2D-878F-325AE449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990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Возможности 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79EA0-FD22-4AB8-995D-4597A91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Запуск из бота, камера для QR, кнопка «Назад» и системная отправка расписания.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A42B3-DBBD-4D65-84A6-30491C8A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Сайт остаётся общим для браузера и Mini App; MAX добавляет быстрый вход и нативные возможности платформы.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45461-7F00-4DF0-87B4-70CE8D62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81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AFC0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0D5"/>
                </a:solidFill>
                <a:latin typeface="Arial"/>
                <a:ea typeface="Arial"/>
                <a:cs typeface="Arial"/>
              </a:rPr>
              <a:t>Публичный запуск и настройки кнопки бота проверяются после выкладки на сервер.</a:t>
            </a:r>
          </a:p>
        </p:txBody>
      </p:sp>
    </p:spTree>
    <p:extLst>
      <p:ext uri="{BB962C8B-B14F-4D97-AF65-F5344CB8AC3E}">
        <p14:creationId xmlns:p14="http://schemas.microsoft.com/office/powerpoint/2010/main" val="121195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C23A-FD25-4CD3-A79C-691D238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НАПАРЕ · ОБРАЗОВАТЕЛЬНАЯ ПЛАТФОРМА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DF8EC-495A-4C7F-87B7-42B6247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Приоритетный пользователь и 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FB175-5BF0-41D0-BCE5-EE3DD70E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6242-1789-47B3-97ED-B5CD083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752DA-8F1B-4863-BCA4-D934FA74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E78D1-0D6C-496B-99F3-EE0D9DC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СТУДЕНТ ОЧНОЙ УЧЕБНОЙ ГРУППЫ СИБИТА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F7DE4-9F7F-42ED-8EFC-F6200665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191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Нужно подтвердить присутствие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конкретной паре и сразу понять,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отметка сохранена.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B4B-8BD5-428F-B5A7-A61FA6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01E84-4A7D-4F7D-9EAB-92284F0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известно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DCB42-0F65-43DA-AC62-1C6C9624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14325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В NaPare уже есть ручной учёт посещаемости и серверные записи. В текущем процессе преподаватель отмечает группу, а студенту может потребоваться отдельно уточнять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EFC88-445F-4533-B21B-4C0C2AAB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58450" cy="1057275"/>
          </a:xfrm>
          <a:prstGeom xmlns:a="http://schemas.openxmlformats.org/drawingml/2006/main" prst="roundRect">
            <a:avLst>
              <a:gd name="adj" fmla="val 14414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30924-8B2C-454A-B07F-4B44E73C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Доказательства и гипотезы разделены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9413-E653-41DB-B49C-9632AC8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Факт: учёт посещаемости есть в продукте. Гипотезы пилота: ручная перекличка отнимает время; подтверждение студенту нужно сразу. Интервью и замер базового времени ещё предстоит провести.</a:t>
            </a:r>
          </a:p>
        </p:txBody>
      </p:sp>
    </p:spTree>
    <p:extLst>
      <p:ext uri="{BB962C8B-B14F-4D97-AF65-F5344CB8AC3E}">
        <p14:creationId xmlns:p14="http://schemas.microsoft.com/office/powerpoint/2010/main" val="1105043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FFD06-9D35-446F-B08B-5DAB513C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C0A09-AD1D-480A-AD60-44AA15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Один законченный сценарий посещаемости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60307-E799-484C-8F86-52B4BE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6B212-352B-4C4F-BAC4-AFFCE35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B17F-9871-4365-9DBA-524220EF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3FA2-8DED-4257-909C-6E82F7D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FDDB-30B4-4975-92F0-2E0C23CB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59C61C-5E2E-435F-9701-66A33AF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Выбирает свою пару и показывает QR.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3A3CB-9CB9-4EFF-8FB7-4F648C17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6841B-721D-495D-A230-68F39CB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F45B0-E9F9-4B04-AB7A-D686BF6B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Открывает приложение кнопкой бота MAX.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A0D0E-3A59-4F8B-9399-6ED97037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4192A-5659-42BC-97B0-FE2E0ACF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Первый вход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6A2F8-97E1-46DE-B973-59ED37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Связывает MAX с университетской учётной записью.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CBEED-0D02-4832-B409-083A2A27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1D531-C1D9-4709-AFDB-3B2D4238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3D452-5E93-490F-8C72-19EE9D4D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Сканирует QR; сервер проверяет аккаунт, группу и срок.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3DC6D-F277-494E-B124-F8DCB41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A19EC-99C5-4CF2-BE3A-39286FE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431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3C250-3FCB-4A29-81D6-24EF42E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Видит статус отметки и переходит к пространству пары.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8C08BA-597F-429E-BC45-05EB67A5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6FEC-B225-40E6-8AC2-A13D9CC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060EC-C1F5-42A7-963D-1110282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49819-52FB-4F71-86D0-B2D1DB81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98BC-6E6C-42CE-8025-0FC3B6B0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4584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B5BCB-D90A-41B7-AAF9-50670BAA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Защита от ошибок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DC4F0-F525-4A3D-B163-93C62492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76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QR действует 90 секунд · повторный запрос не создаёт вторую отметку · данные проверяются на сервере</a:t>
            </a:r>
          </a:p>
        </p:txBody>
      </p:sp>
    </p:spTree>
    <p:extLst>
      <p:ext uri="{BB962C8B-B14F-4D97-AF65-F5344CB8AC3E}">
        <p14:creationId xmlns:p14="http://schemas.microsoft.com/office/powerpoint/2010/main" val="1478356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423EE-ED8C-4D99-B84F-99F94E3B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B7BF-060C-44E4-BB25-84C8A68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Зачем здесь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555B1-C915-424D-B1EB-F0FBF5A1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89B15-D902-49D8-ACA5-0B573F6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7CCF7-5AD6-4F4C-ADC6-F553722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77D14-56DB-4ECF-87FC-D1706DA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ТОТ ЖЕ САЙТ · ВНУТРИ БОТА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557B8-9CB8-4D55-979F-4CDCF3D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Кнопка «Открыть»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запускает web-portal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 окне MAX.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6B02B-1F36-449A-8D4A-9F1438F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Не отдельная копия кабинета: один адрес сайта обслуживает обычный браузер и MAX WebApp.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056AD-24C3-4AFC-A260-30D2AEEC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859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5B80-9F57-4B27-90F3-D950C270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02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Идентичность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E8A90-D05C-4812-9DCD-BAF94110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716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 передаёт подписанные initData; backend проверяет подпись и срок.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36B44-B987-45EA-862C-5735DB9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622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29FBC-BACE-4615-A727-575DD28E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Связь с аккаунтом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69BCA-7834-4FA7-A4EB-C0C5414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4797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Первый вход — логин и пароль вуза; далее MAX открывает кабинет связанного пользователя.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E0AD5-ABFB-45EF-951C-8955230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3857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965F1-517D-47CC-AE69-928D6C5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5287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Нативный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351EE-C419-478A-BE75-3778A604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24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MAX сканирует QR. В MAX Web предусмотрен локальный QR-сканер камеры браузера с запросом разрешения.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53BF8-4B29-4285-B635-54A5FC2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1490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3667-BC8C-417F-8BD1-7210EA3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Ещё в MAX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3BB65-07FF-461E-9239-D236881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Нативная кнопка «Назад» и отправка расписания через MAX share sheet.</a:t>
            </a:r>
          </a:p>
        </p:txBody>
      </p:sp>
    </p:spTree>
    <p:extLst>
      <p:ext uri="{BB962C8B-B14F-4D97-AF65-F5344CB8AC3E}">
        <p14:creationId xmlns:p14="http://schemas.microsoft.com/office/powerpoint/2010/main" val="248664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26ADE-923E-4BA4-8131-F31DD25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11FE9-5A19-4D53-AA4F-EF1373C2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получает студент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A897-FEB6-4F51-8081-2AD57335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D74A-2EF3-457B-A06F-7C383544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710C4-54E4-47B1-BD13-7BBAE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662-7016-4670-9FBB-B834A941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3788-0EC9-480E-8CFE-D1D910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E4FEF-4299-41A3-AE2E-C34E1D3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До сканирования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AA377-4602-4212-A3DA-89899C8A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Камера открывается после нажатия. Отказ в разрешении объясняется; сканирование можно отменить.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D782-F42A-4E93-9AE5-415DF092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90328-5570-47A7-8995-54BE1622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C3A6-995B-400C-A314-B23A19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Успешная отметка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08E-AA47-47BC-BA55-7603868A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Сервис сообщает, что посещение отмечено, и предлагает открыть пространство этой пары.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1943-B236-4A16-9E07-92C0CA9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914A-5E49-442D-AC4B-766A9C15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C14D1-361D-4101-9FED-3FDB8C7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QR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CBF0C-8A70-44C6-91CB-278CC336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Показывается, что отметка уже существует; вторая запись не создаётся.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B0D8E-4C1B-42B8-8929-5C7C8F3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C1FAB-991C-462E-9CCA-D4F609D4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143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E61FE-EEDC-4D60-9709-3F7E9E68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C560C-A7DE-4A65-80BA-B7281C9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2143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Неверный код, истёкший QR или чужая группа получают понятное сообщение и следующий шаг.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0764-4D3D-4F9B-A85C-3D2AE4D9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29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Результат принадлежит текущему студенту и его учебному контексту.</a:t>
            </a:r>
          </a:p>
        </p:txBody>
      </p:sp>
    </p:spTree>
    <p:extLst>
      <p:ext uri="{BB962C8B-B14F-4D97-AF65-F5344CB8AC3E}">
        <p14:creationId xmlns:p14="http://schemas.microsoft.com/office/powerpoint/2010/main" val="12309640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C82D24-6F02-46CF-97B8-F82FB82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F9E59-66F4-40A7-9D17-25BF8B6A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Состав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3983-F7FE-49EA-B5D9-1C5D3169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5B339-6866-4C84-ABE4-8043AC6E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32ECC-64A1-4A1D-B0FA-FB327DE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3660F-E52C-4258-B25A-EB25F3E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F0686-2463-497D-9A0D-AA13FE80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58EB-1478-4D7C-B003-0ED5C2A6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Бот и Mini App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FF329-4987-4028-88EC-64659F3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1D9E8-8A1F-4B37-9CCF-61501A3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A81F5-56DB-4805-8D58-1C249102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6C96B-215C-4A80-AF6C-28AFF36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web-portal + ролевые страницы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CE2-F1AC-44FE-B42F-DA78C990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757F4-9AFE-4EC8-A1BD-61AB236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F993B-6BD1-405A-B7DB-7F9922AC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E5874-C09E-4EC5-A9AC-03FB157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NestJS: MAX auth, QR, роли и группа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63C27-0034-471B-AC0B-6BBB1F2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28875"/>
            <a:ext cx="314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FF489-7883-42FB-945A-8571CEE1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38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9525">
            <a:solidFill>
              <a:srgbClr val="D6DF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0A666-424A-415E-85F5-F9E108FB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76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5AFAE-B0BA-4B5D-9A3A-5604B52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2000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PostgreSQL: занятие и отметка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CD05-60E1-4C5C-834C-FCEE37D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Запуск приложения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E536-A7DA-4B19-B273-DAB964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button → общий сайт → проверка initData → роль пользователя → нужный кабинет.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EE8CB-6EA7-4B08-A10C-5E6EB29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Контейнеры проекта запускаются через Docker Compose. Переменные и внешние интеграции задаются через .env из безопасного шаблона.</a:t>
            </a:r>
          </a:p>
        </p:txBody>
      </p:sp>
    </p:spTree>
    <p:extLst>
      <p:ext uri="{BB962C8B-B14F-4D97-AF65-F5344CB8AC3E}">
        <p14:creationId xmlns:p14="http://schemas.microsoft.com/office/powerpoint/2010/main" val="908466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7248AD-4872-41D1-8A4F-798E194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87913-506D-48CB-8BAA-F06D921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Как измерить эффект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4B0CA-47D6-44D9-9211-CB149ED8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0795F-67F0-451C-85D5-71BC9AE0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9662A-D429-468B-A1D4-281D6E7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C1ED7-36A5-44E8-B207-63814CAE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ГИПОТЕЗА, НЕ РЕЗУЛЬТАТ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2494E-769B-4B7D-9293-6628BD9C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2863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Сократить медианное время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фиксации посещаемости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на 30% или больше.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826A0-D5EA-43DB-AC56-55C2A17F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без увеличения числа исправлений преподавателем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3F84B-3A3E-4DBD-8B55-2A5307A6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43075"/>
            <a:ext cx="95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10DDA-D7F6-48D9-9B27-E008A516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12D0E-AC33-4566-A066-00FE8048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Время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6F86D-B0A5-4DA3-BF8E-BC91C3AE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Ручная отметка группы против QR на нескольких парах.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BBB10-68F3-4722-9B28-E47194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62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C9768-BBD7-4DC6-BE2D-C8F3F43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Успех с первого раза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E33F-7E29-4514-9B3D-D49CEEC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студентов, получивших подтверждение без повторной попытки.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ADFA2-397E-486F-B671-77572464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DB445-3218-4F0B-93AA-3A5857D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29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Ошибки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35525-A523-46A6-B9F9-D613CD9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Дубли и исправления в журнале посещаемости.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34721-C292-4F81-9C1A-6EA86BDC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95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08A0-3074-4A66-AE95-7FC406D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95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Повторный вход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A6F0E-C972-43D2-9F3D-2B17E6F8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95775"/>
            <a:ext cx="1952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Доля связанных аккаунтов, открывших кабинет в MAX без пароля.</a:t>
            </a:r>
          </a:p>
        </p:txBody>
      </p:sp>
    </p:spTree>
    <p:extLst>
      <p:ext uri="{BB962C8B-B14F-4D97-AF65-F5344CB8AC3E}">
        <p14:creationId xmlns:p14="http://schemas.microsoft.com/office/powerpoint/2010/main" val="395330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AEE47-AE51-4E56-92F3-ED653C4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721B4-CBAC-458E-90CE-7BB8EF4A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Пилот и перенос в другой вуз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81A51-C0EB-4F8E-B48B-21C4DB7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37AF7-7C48-420C-BC3B-EB8108D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95B5-4FAD-434C-90A0-8AFCA0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29CD-F431-45C3-9E8B-D5582F79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ПЕРВЫЙ КОНТЕКСТ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AD292-5480-4D6E-8748-64E57DF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38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Одна очная группа СИБИТа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 один преподаватель.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A6653-99B4-4A14-8696-C01033A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Подготовка аккаунтов · проверка группы · пара · MAX бот · HTTPS · наблюдение за несколькими занятиями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46EC5-B949-4661-96AB-ED11F495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62125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0995-9A65-4405-9080-F89DACFC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907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переносим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B0F2C-7AD5-408E-AC42-005FE97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980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Единый веб-клиент, проверку MAX-идентичности и QR-сценарий посещаемости.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8BCAD-ABEF-45D4-B381-2880584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670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Что адаптируем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EA9CD-EA10-47D5-99B1-5413159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4861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Источник расписания, структуры групп и ролей, правила посещаемости, процессы и требования к данным.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C06D9-D778-48E7-A620-891FE1DA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45845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D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2EDF4-50F5-4F6E-BAC5-C36C5C6F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Следующий шаг после успешного пилота — повторить запуск на одном факультете и сравнить показатели.</a:t>
            </a:r>
          </a:p>
        </p:txBody>
      </p:sp>
    </p:spTree>
    <p:extLst>
      <p:ext uri="{BB962C8B-B14F-4D97-AF65-F5344CB8AC3E}">
        <p14:creationId xmlns:p14="http://schemas.microsoft.com/office/powerpoint/2010/main" val="16006405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1C876A-B99F-4A4D-AD67-446D1B45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4E61C-ADE6-410F-861F-EEA4703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Данные, безопасность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5E49C-F54D-4F8F-A601-544938AF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0F918-8C64-48D6-A132-28667E0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4C0E-6C31-405F-97B9-3990AC6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5DBF-7F40-4CC4-AB1D-28CBF1A4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Расписание в демо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CBED6-430B-44FC-867F-5D8A01DB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145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Синтетическая тестовая пара source=hackathon-demo. Не является официальным импортом расписания.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7D8E-C588-47FA-B299-4D65813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F48B0-4673-499A-BCDF-2C54AC69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Учёт посещения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F61F-B688-47FC-9F68-4D622B7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Тестовая запись создаётся во время показа через API и не выдаётся за реальную статистику.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4C43F-2852-4C46-B471-8217A7CF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0FAE-6A32-493B-BE4A-E33C94E3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MAX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D7D4-357E-40BD-AEAB-8ABB568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initData проверяется на backend с bot token и сроком действия; пароли не сохраняются клиентом.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3FAD5-F364-4EB9-8524-DAC427A8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24B38-BC12-437A-A25A-9CDEBFA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QR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C269-9771-45CD-BBC3-31257B4F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577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QR действует 90 секунд; повторная отметка студента блокируется. Передача кода не доказывает, что студент присутствует.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B1E651-21A6-4CD3-81CC-12FBBF3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CEFAF-E694-4D53-ACEA-94D1F296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После MVP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D4A21E-E8FD-43B2-A16F-35DBB9C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864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Подключение официального расписания, расширение на другие вузы и пилотные исследования требуют отдельной настройки и подтверждения.</a:t>
            </a:r>
          </a:p>
        </p:txBody>
      </p:sp>
    </p:spTree>
    <p:extLst>
      <p:ext uri="{BB962C8B-B14F-4D97-AF65-F5344CB8AC3E}">
        <p14:creationId xmlns:p14="http://schemas.microsoft.com/office/powerpoint/2010/main" val="18778604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6BA08-10EB-40F1-934C-03C1C6E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КЕЙС «ОБРАЗОВАТЕЛЬНЫЕ РЕШЕНИЯ»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7E33F-39D4-476B-A5A3-646CB029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Источники и границы 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DDF5-AD57-4DEB-AD72-89BBEF34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2037C-FB31-46A4-A726-64F4808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НаПаре · продукт и MVP-кейс СИБИТа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74CA-8D49-47FB-83DD-4E33796A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71F84-60B7-4720-A8D7-C32B408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ТРЕБОВАНИЯ КЕЙСА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C482-E86D-4AFC-8294-A65285D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0497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«Образовательные решения», стр. 6–12 и 17–20: онлайн MVP, обязательные материалы, критерии оценки, As Is / To Be, пилот, данные и масштабирование.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CC50C-B2A3-4881-8F7F-23E446F1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5374F-A74D-498E-B799-4D964A68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ПЛАТФОРМА MAX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C3EF9-5D72-44D4-8F28-0F6F03F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MAX Bridge: https://dev.max.ru/docs/webapps/bridge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Проверка initData: https://dev.max.ru/docs/webapps/validation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Подключение Mini App к боту: https://dev.max.ru/docs/webapps/introduction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8B4D-BDA1-41DA-BAD1-936B4618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B289-D291-4386-A293-4F73F217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КОД И ДЕМО-ДАННЫЕ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58EA-2120-4638-9673-1D51A0B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771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8324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248"/>
                </a:solidFill>
                <a:latin typeface="Arial"/>
                <a:ea typeface="Arial"/>
                <a:cs typeface="Arial"/>
              </a:rPr>
              <a:t>README.md · docs/hackathon-demo.md · docs/clients/max-miniapp.md · apps/backend/src/auth · apps/backend/src/absences. Демонстрационная пара помечена как синтетическая; интервью и замер эффекта ещё не проводились.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495D6-35C3-4BC3-8D6F-455E9569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A7F8E-1DBD-441A-B589-61A64704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8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3D"/>
                </a:solidFill>
                <a:latin typeface="Arial"/>
                <a:ea typeface="Arial"/>
                <a:cs typeface="Arial"/>
              </a:rPr>
              <a:t>Неиспользованные или модельные интеграции не выдаются за подключённые официальные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16488214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3570C-4851-419B-BE2D-1263A517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B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49FD-F8F0-4A29-9317-B0A1BB02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ПЕРЕД ОТПРАВКОЙ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8331A-E8D6-495C-BE44-F4A123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8096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 защиты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42FF0-5D3A-4093-950C-8084748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67B31-8218-402B-8D2D-40E1484F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Опубликовать исходник и записать commit hash финальной версии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E8B06-2B81-4C52-8AB5-DA4013B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1BDE8-D9DD-4B07-92E0-4ADFE43C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F7008-8851-433B-8526-6632C443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Подключить одобренного MAX-бота к https://napare.sano.ru/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1670E-EE77-4AF3-82CE-1D0D78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0E103-2EB5-4327-AFC5-0CE1FACE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B9A20B-E69B-4ECC-BE45-0ECC065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956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Развернуть текущую версию сайта, API и HTTPS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4910E-C27B-4ECC-9E80-00F3FF5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9F262-8F47-4B99-943C-137F9962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C9F77-6D9B-4399-AA33-70A91F03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Создать отдельные тестовые аккаунты и пару демо через защищённый скрипт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2457A-1217-4798-AD43-ACFABECA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F432-6D86-4E60-9FE2-1873EF9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C6B7A-BAF9-4E9D-AE64-5835281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Передать проверяющим ссылку бота, логин/пароль и пошаговый путь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A3D27-2AD1-4BD1-A540-51668D9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4EA7C-B052-4688-83DB-62C9874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2B8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2B8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87079-FD7A-4707-9B73-B234A75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Показать первый вход, повторный вход и одну QR-отметку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BBC14-14E6-46AE-B1B9-78FB7209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2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0BF8F-8A6A-497F-890D-83114AF5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7E2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E2E8"/>
                </a:solidFill>
                <a:latin typeface="Arial"/>
                <a:ea typeface="Arial"/>
                <a:cs typeface="Arial"/>
              </a:rPr>
              <a:t>До выполнения этих шагов не заявляй, что публичный запуск уже подтверждён.</a:t>
            </a:r>
          </a:p>
        </p:txBody>
      </p:sp>
    </p:spTree>
    <p:extLst>
      <p:ext uri="{BB962C8B-B14F-4D97-AF65-F5344CB8AC3E}">
        <p14:creationId xmlns:p14="http://schemas.microsoft.com/office/powerpoint/2010/main" val="10445269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03381E-5596-4E36-A05E-096DF9D5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4A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6A190-9D07-47EC-A8E4-5611A366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9D5C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9D5C5"/>
                </a:solidFill>
                <a:latin typeface="Arial"/>
                <a:ea typeface="Arial"/>
                <a:cs typeface="Arial"/>
              </a:rPr>
              <a:t>ДЕМО-ДОСТУПЫ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233C8-277B-418B-BA2E-5500D372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аккаунты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2A82-7F36-4C02-BF43-601BF866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Откройте MAX-бота и войдите под ролью, которую показываете.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D242B-63D5-4357-8DDA-DFA979A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F2622-4BEA-4D8F-8FBA-BFF1FDE3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34089-046E-484C-A3C3-5ADA3DA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A6BE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6BEA"/>
                </a:solidFill>
                <a:latin typeface="Arial"/>
                <a:ea typeface="Arial"/>
                <a:cs typeface="Arial"/>
              </a:rPr>
              <a:t>СТУДЕНТ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0F104-287C-42D4-90E9-4DFB1C5D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EB2A6-0F36-446B-9751-5D5F2C4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student@napare.sano.ru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8B43B-DF59-4A64-93E4-1D7F22C3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4152-7E3B-4191-9AD2-ACBD34E7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14aa2d4e430c0fcb8d7eda82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5BDC1-3D0A-4829-AD64-1D7AF7B2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82DFA-1EF7-4FDC-BEE6-65107547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DDF7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87C53-B8C0-40A7-91B4-53F30BF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5277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8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A70"/>
                </a:solidFill>
                <a:latin typeface="Arial"/>
                <a:ea typeface="Arial"/>
                <a:cs typeface="Arial"/>
              </a:rPr>
              <a:t>ПРЕПОДАВАТЕЛЬ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60821-1CA2-4BA1-9AC3-9282A3B7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FD9ED-2DC7-482F-B5C4-6BC7E2D5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teacher@napare.sano.ru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7844-CF7A-4047-823E-9272A4C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84E31-16BE-4768-8C62-E5041652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4802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a3a0232247c39c35aeb204a2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52C9B-7BDA-47DF-BA46-A627F48C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7CC-2A14-4D9D-B591-2D4CD39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594A2-B9BC-4E08-ABE7-B0A722CE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9781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9781B"/>
                </a:solidFill>
                <a:latin typeface="Arial"/>
                <a:ea typeface="Arial"/>
                <a:cs typeface="Arial"/>
              </a:rPr>
              <a:t>ДЕКАНАТ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3DD75-075E-413D-951F-7769866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CBFC0-E21E-4491-A3DC-5A4FC74D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deanery@napare.sano.ru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780BC-6837-4E55-A0A6-A4C3DB0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CF655-A91C-4689-A71F-95507F2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ffcd6f32257bb90a89228691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2A36DA-B28A-4AD3-A42E-C6D8B3F6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24400"/>
            <a:ext cx="110490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414A7-A774-4D9C-8FB6-DB9E8DE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8097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BE7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8EA70-50DF-4F27-B813-59B1A5D2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86325"/>
            <a:ext cx="1657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15BC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5BC8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C4E10-5677-4899-ACCC-784BF2F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ЛОГИН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A20E0-5336-45D7-BCCB-E061866E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developer@napare.sano.ru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038FB-3484-4FBB-88C5-EC8E04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A"/>
                </a:solidFill>
                <a:latin typeface="Arial"/>
                <a:ea typeface="Arial"/>
                <a:cs typeface="Arial"/>
              </a:rPr>
              <a:t>ПАРОЛЬ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49926-887E-40BA-ADA7-4536C80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81575"/>
            <a:ext cx="4171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23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233E"/>
                </a:solidFill>
                <a:latin typeface="Arial"/>
                <a:ea typeface="Arial"/>
                <a:cs typeface="Arial"/>
              </a:rPr>
              <a:t>02ce79a3e6f5aae14cbf44a0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518C6-598F-4D63-9AE0-52C0469B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3676650" cy="523875"/>
          </a:xfrm>
          <a:prstGeom xmlns:a="http://schemas.openxmlformats.org/drawingml/2006/main" prst="roundRect">
            <a:avLst>
              <a:gd name="adj" fmla="val 30909"/>
            </a:avLst>
          </a:prstGeom>
          <a:solidFill xmlns:a="http://schemas.openxmlformats.org/drawingml/2006/main">
            <a:srgbClr val="2768F5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D924CD-B719-42F8-AF11-0DAE5C7A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fb34cc3f08fd47cf"/>
              </a:rPr>
              <a:t>Открыть MAX-бота  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2C9C2-F09E-4CF6-ADCF-CF73CADE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197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DF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5DFF0"/>
                </a:solidFill>
                <a:latin typeface="Arial"/>
                <a:ea typeface="Arial"/>
                <a:cs typeface="Arial"/>
              </a:rPr>
              <a:t>https://max.ru/id550146543714_bot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06662-9A9C-4E68-B618-3DABE87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1DCE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1DCEF"/>
                </a:solidFill>
                <a:latin typeface="Arial"/>
                <a:ea typeface="Arial"/>
                <a:cs typeface="Arial"/>
              </a:rPr>
              <a:t>Для входа и привязки MAX используйте отдельные аккаунты студента и преподавателя.</a:t>
            </a:r>
          </a:p>
        </p:txBody>
      </p:sp>
    </p:spTree>
    <p:extLst>
      <p:ext uri="{BB962C8B-B14F-4D97-AF65-F5344CB8AC3E}">
        <p14:creationId xmlns:p14="http://schemas.microsoft.com/office/powerpoint/2010/main" val="20820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2026-09-29T14:17:08.2740000Z</dcterms:created>
  <dcterms:modified xsi:type="dcterms:W3CDTF">2026-09-29T14:17:08.2740000Z</dcterms:modified>
</coreProperties>
</file>